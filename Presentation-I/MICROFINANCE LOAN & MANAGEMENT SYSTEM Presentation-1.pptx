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Today I'll be presenting my project: Design and Implementation of a Database Management System for a Microfinance Loan and Repayment Management System. This project focuses on building a structured, reliable database to help microfinance institutions manage client information, loans, and repayments more efficiently than manual or spreadsheet-based methods. Over the next few slides, I'll walk through the problem we're solving, the database design, how it was implemented, and the benefits it delivers.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problem. Many microfinance institutions still rely on manual registers or basic spreadsheets to track clients, loans, and repayments. This creates several issues: data entry errors, no enforced relationships between records, difficulty tracking who has defaulted, and almost no ability to generate consolidated reports across branches. On the right, I highlight why this matters — a large share of microfinance clients are unbanked or underbanked, so accurate, reliable record-keeping is critical to serve them responsibly and to keep the institution financially sound. This is the gap our database system is designed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core of the database design — the entity relationship model. We have six main entities: Branch, Loan Officer, Client, Loan, Repayment, and Transaction Log. A Branch has many Loan Officers, each officer manages many Clients, each Client can take out multiple Loans, each Loan has multiple Repayments over time, and every repayment is recorded in a Transaction Log for audit purposes. These relationships are enforced using primary and foreign keys, and the schema is normalized to third normal form, or 3NF, to remove redundant data and keep the database consistent — for example, a client's details are stored once, not repeated on every loan record. This structure is what allows us to reliably calculate outstanding balances, track repayment history, and flag defaulters.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how this was implemented. On the technical side, the system uses a relational database engine — MySQL or PostgreSQL — as the core, with a backend built in PHP or Java Spring for business logic, a responsive web interface for loan officers and clients, and role-based access control so admins, officers, and auditors only see what they need. On the functional side, the system is organized into key modules: client registration and KYC capture, the loan application-to-disbursement workflow, automated repayment scheduling with interest calculation, real-time balance and arrears tracking, portfolio-at-risk reporting for management, and database-level stored procedures and triggers that automatically validate data — for example, preventing a repayment from being recorded against a loan that doesn't exist, or automatically updating the outstanding balance whenever a payment is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database system delivers four key benefits: strong data integrity through enforced keys and constraints; much faster reporting, since portfolio-at-risk and arrears reports that used to take days can now be generated instantly; more accurate repayment tracking through automated balance updates; and a schema designed to scale as the institution grows to new branches and products. Looking ahead, future work includes integrating mobile money and SMS-based payments so clients can repay loans remotely, adding predictive credit scoring based on historical repayment behavior to improve loan decisions, and moving to a cloud deployment so multiple branches can synchronize data in real time. Thank you —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3A40"/>
        </a:solidFill>
      </p:bgPr>
    </p:bg>
    <p:spTree>
      <p:nvGrpSpPr>
        <p:cNvPr id="1" name=""/>
        <p:cNvGrpSpPr/>
        <p:nvPr/>
      </p:nvGrpSpPr>
      <p:grpSpPr>
        <a:xfrm>
          <a:off x="0" y="0"/>
          <a:ext cx="0" cy="0"/>
          <a:chOff x="0" y="0"/>
          <a:chExt cx="0" cy="0"/>
        </a:xfrm>
      </p:grpSpPr>
      <p:sp>
        <p:nvSpPr>
          <p:cNvPr id="2" name="Shape 0"/>
          <p:cNvSpPr/>
          <p:nvPr/>
        </p:nvSpPr>
        <p:spPr>
          <a:xfrm>
            <a:off x="9692640" y="-1463040"/>
            <a:ext cx="5029200" cy="5029200"/>
          </a:xfrm>
          <a:prstGeom prst="ellipse">
            <a:avLst/>
          </a:prstGeom>
          <a:solidFill>
            <a:srgbClr val="028090">
              <a:alpha val="45000"/>
            </a:srgbClr>
          </a:solidFill>
          <a:ln/>
        </p:spPr>
      </p:sp>
      <p:sp>
        <p:nvSpPr>
          <p:cNvPr id="3" name="Shape 1"/>
          <p:cNvSpPr/>
          <p:nvPr/>
        </p:nvSpPr>
        <p:spPr>
          <a:xfrm>
            <a:off x="-1645920" y="4572000"/>
            <a:ext cx="3840480" cy="3840480"/>
          </a:xfrm>
          <a:prstGeom prst="ellipse">
            <a:avLst/>
          </a:prstGeom>
          <a:solidFill>
            <a:srgbClr val="00A896">
              <a:alpha val="35000"/>
            </a:srgbClr>
          </a:solidFill>
          <a:ln/>
        </p:spPr>
      </p:sp>
      <p:sp>
        <p:nvSpPr>
          <p:cNvPr id="4" name="Shape 2"/>
          <p:cNvSpPr/>
          <p:nvPr/>
        </p:nvSpPr>
        <p:spPr>
          <a:xfrm>
            <a:off x="731520" y="685800"/>
            <a:ext cx="868680" cy="868680"/>
          </a:xfrm>
          <a:prstGeom prst="ellipse">
            <a:avLst/>
          </a:prstGeom>
          <a:solidFill>
            <a:srgbClr val="028090"/>
          </a:solidFill>
          <a:ln/>
        </p:spPr>
      </p:sp>
      <p:pic>
        <p:nvPicPr>
          <p:cNvPr id="5" name="Image 0" descr="icon_database.png">    </p:cNvPr>
          <p:cNvPicPr>
            <a:picLocks noChangeAspect="1"/>
          </p:cNvPicPr>
          <p:nvPr/>
        </p:nvPicPr>
        <p:blipFill>
          <a:blip r:embed="rId1"/>
          <a:stretch>
            <a:fillRect/>
          </a:stretch>
        </p:blipFill>
        <p:spPr>
          <a:xfrm>
            <a:off x="957377" y="911657"/>
            <a:ext cx="416966" cy="416966"/>
          </a:xfrm>
          <a:prstGeom prst="rect">
            <a:avLst/>
          </a:prstGeom>
        </p:spPr>
      </p:pic>
      <p:sp>
        <p:nvSpPr>
          <p:cNvPr id="6" name="Text 3"/>
          <p:cNvSpPr/>
          <p:nvPr/>
        </p:nvSpPr>
        <p:spPr>
          <a:xfrm>
            <a:off x="731520" y="2331720"/>
            <a:ext cx="10698480" cy="1371600"/>
          </a:xfrm>
          <a:prstGeom prst="rect">
            <a:avLst/>
          </a:prstGeom>
          <a:noFill/>
          <a:ln/>
        </p:spPr>
        <p:txBody>
          <a:bodyPr wrap="square" rtlCol="0" anchor="t"/>
          <a:lstStyle/>
          <a:p>
            <a:pPr algn="l" indent="0" marL="0">
              <a:lnSpc>
                <a:spcPct val="105000"/>
              </a:lnSpc>
              <a:buNone/>
            </a:pPr>
            <a:r>
              <a:rPr lang="en-US" sz="4000" b="1" dirty="0">
                <a:solidFill>
                  <a:srgbClr val="FFFFFF"/>
                </a:solidFill>
                <a:latin typeface="Cambria" pitchFamily="34" charset="0"/>
                <a:ea typeface="Cambria" pitchFamily="34" charset="-122"/>
                <a:cs typeface="Cambria" pitchFamily="34" charset="-120"/>
              </a:rPr>
              <a:t>MICROFINANCE LOAN &amp; REPAYMENT MANAGEMENT SYSTEM</a:t>
            </a:r>
            <a:endParaRPr lang="en-US" sz="4000" dirty="0"/>
          </a:p>
        </p:txBody>
      </p:sp>
      <p:sp>
        <p:nvSpPr>
          <p:cNvPr id="7" name="Text 4"/>
          <p:cNvSpPr/>
          <p:nvPr/>
        </p:nvSpPr>
        <p:spPr>
          <a:xfrm>
            <a:off x="731520" y="3703320"/>
            <a:ext cx="9601200" cy="548640"/>
          </a:xfrm>
          <a:prstGeom prst="rect">
            <a:avLst/>
          </a:prstGeom>
          <a:noFill/>
          <a:ln/>
        </p:spPr>
        <p:txBody>
          <a:bodyPr wrap="square" rtlCol="0" anchor="ctr"/>
          <a:lstStyle/>
          <a:p>
            <a:pPr algn="l" indent="0" marL="0">
              <a:buNone/>
            </a:pPr>
            <a:r>
              <a:rPr lang="en-US" sz="1800" dirty="0">
                <a:solidFill>
                  <a:srgbClr val="02C39A"/>
                </a:solidFill>
                <a:latin typeface="Calibri" pitchFamily="34" charset="0"/>
                <a:ea typeface="Calibri" pitchFamily="34" charset="-122"/>
                <a:cs typeface="Calibri" pitchFamily="34" charset="-120"/>
              </a:rPr>
              <a:t>Design and Implementation of a Database Management System</a:t>
            </a:r>
            <a:endParaRPr lang="en-US" sz="1800" dirty="0"/>
          </a:p>
        </p:txBody>
      </p:sp>
      <p:sp>
        <p:nvSpPr>
          <p:cNvPr id="8" name="Text 5"/>
          <p:cNvSpPr/>
          <p:nvPr/>
        </p:nvSpPr>
        <p:spPr>
          <a:xfrm>
            <a:off x="731520" y="5989320"/>
            <a:ext cx="9601200" cy="457200"/>
          </a:xfrm>
          <a:prstGeom prst="rect">
            <a:avLst/>
          </a:prstGeom>
          <a:noFill/>
          <a:ln/>
        </p:spPr>
        <p:txBody>
          <a:bodyPr wrap="square" rtlCol="0" anchor="ctr"/>
          <a:lstStyle/>
          <a:p>
            <a:pPr algn="l" indent="0" marL="0">
              <a:buNone/>
            </a:pPr>
            <a:r>
              <a:rPr lang="en-US" sz="1300" dirty="0">
                <a:solidFill>
                  <a:srgbClr val="AFC9CB"/>
                </a:solidFill>
                <a:latin typeface="Calibri" pitchFamily="34" charset="0"/>
                <a:ea typeface="Calibri" pitchFamily="34" charset="-122"/>
                <a:cs typeface="Calibri" pitchFamily="34" charset="-120"/>
              </a:rPr>
              <a:t>Presented by: [Your Name]   |   [Course / Institution]   |   [Date]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9F8"/>
        </a:solidFill>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rtlCol="0" anchor="ctr"/>
          <a:lstStyle/>
          <a:p>
            <a:pPr indent="0" marL="0">
              <a:buNone/>
            </a:pPr>
            <a:r>
              <a:rPr lang="en-US" sz="3200" b="1" dirty="0">
                <a:solidFill>
                  <a:srgbClr val="1B2B2E"/>
                </a:solidFill>
                <a:latin typeface="Cambria" pitchFamily="34" charset="0"/>
                <a:ea typeface="Cambria" pitchFamily="34" charset="-122"/>
                <a:cs typeface="Cambria" pitchFamily="34" charset="-120"/>
              </a:rPr>
              <a:t>The Problem</a:t>
            </a:r>
            <a:endParaRPr lang="en-US" sz="3200" dirty="0"/>
          </a:p>
        </p:txBody>
      </p:sp>
      <p:sp>
        <p:nvSpPr>
          <p:cNvPr id="3" name="Text 1"/>
          <p:cNvSpPr/>
          <p:nvPr/>
        </p:nvSpPr>
        <p:spPr>
          <a:xfrm>
            <a:off x="548640" y="1024128"/>
            <a:ext cx="7315200" cy="365760"/>
          </a:xfrm>
          <a:prstGeom prst="rect">
            <a:avLst/>
          </a:prstGeom>
          <a:noFill/>
          <a:ln/>
        </p:spPr>
        <p:txBody>
          <a:bodyPr wrap="square" rtlCol="0" anchor="ctr"/>
          <a:lstStyle/>
          <a:p>
            <a:pPr indent="0" marL="0">
              <a:buNone/>
            </a:pPr>
            <a:r>
              <a:rPr lang="en-US" sz="1400" i="1" dirty="0">
                <a:solidFill>
                  <a:srgbClr val="5C7A7D"/>
                </a:solidFill>
                <a:latin typeface="Calibri" pitchFamily="34" charset="0"/>
                <a:ea typeface="Calibri" pitchFamily="34" charset="-122"/>
                <a:cs typeface="Calibri" pitchFamily="34" charset="-120"/>
              </a:rPr>
              <a:t>Why microfinance institutions need a dedicated DBMS</a:t>
            </a:r>
            <a:endParaRPr lang="en-US" sz="1400" dirty="0"/>
          </a:p>
        </p:txBody>
      </p:sp>
      <p:sp>
        <p:nvSpPr>
          <p:cNvPr id="4" name="Shape 2"/>
          <p:cNvSpPr/>
          <p:nvPr/>
        </p:nvSpPr>
        <p:spPr>
          <a:xfrm>
            <a:off x="548640" y="1755648"/>
            <a:ext cx="502920" cy="502920"/>
          </a:xfrm>
          <a:prstGeom prst="ellipse">
            <a:avLst/>
          </a:prstGeom>
          <a:solidFill>
            <a:srgbClr val="028090"/>
          </a:solidFill>
          <a:ln/>
        </p:spPr>
      </p:sp>
      <p:pic>
        <p:nvPicPr>
          <p:cNvPr id="5" name="Image 0" descr="icon_chart.png">    </p:cNvPr>
          <p:cNvPicPr>
            <a:picLocks noChangeAspect="1"/>
          </p:cNvPicPr>
          <p:nvPr/>
        </p:nvPicPr>
        <p:blipFill>
          <a:blip r:embed="rId1"/>
          <a:stretch>
            <a:fillRect/>
          </a:stretch>
        </p:blipFill>
        <p:spPr>
          <a:xfrm>
            <a:off x="679399" y="1886407"/>
            <a:ext cx="241402" cy="241402"/>
          </a:xfrm>
          <a:prstGeom prst="rect">
            <a:avLst/>
          </a:prstGeom>
        </p:spPr>
      </p:pic>
      <p:sp>
        <p:nvSpPr>
          <p:cNvPr id="6" name="Text 3"/>
          <p:cNvSpPr/>
          <p:nvPr/>
        </p:nvSpPr>
        <p:spPr>
          <a:xfrm>
            <a:off x="1280160" y="1691640"/>
            <a:ext cx="4937760" cy="320040"/>
          </a:xfrm>
          <a:prstGeom prst="rect">
            <a:avLst/>
          </a:prstGeom>
          <a:noFill/>
          <a:ln/>
        </p:spPr>
        <p:txBody>
          <a:bodyPr wrap="square" rtlCol="0" anchor="ctr"/>
          <a:lstStyle/>
          <a:p>
            <a:pPr indent="0" marL="0">
              <a:buNone/>
            </a:pPr>
            <a:r>
              <a:rPr lang="en-US" sz="1500" b="1" dirty="0">
                <a:solidFill>
                  <a:srgbClr val="1B2B2E"/>
                </a:solidFill>
                <a:latin typeface="Calibri" pitchFamily="34" charset="0"/>
                <a:ea typeface="Calibri" pitchFamily="34" charset="-122"/>
                <a:cs typeface="Calibri" pitchFamily="34" charset="-120"/>
              </a:rPr>
              <a:t>Manual &amp; spreadsheet records</a:t>
            </a:r>
            <a:endParaRPr lang="en-US" sz="1500" dirty="0"/>
          </a:p>
        </p:txBody>
      </p:sp>
      <p:sp>
        <p:nvSpPr>
          <p:cNvPr id="7" name="Text 4"/>
          <p:cNvSpPr/>
          <p:nvPr/>
        </p:nvSpPr>
        <p:spPr>
          <a:xfrm>
            <a:off x="1280160" y="2020824"/>
            <a:ext cx="5029200" cy="685800"/>
          </a:xfrm>
          <a:prstGeom prst="rect">
            <a:avLst/>
          </a:prstGeom>
          <a:noFill/>
          <a:ln/>
        </p:spPr>
        <p:txBody>
          <a:bodyPr wrap="square" rtlCol="0" anchor="ctr"/>
          <a:lstStyle/>
          <a:p>
            <a:pPr indent="0" marL="0">
              <a:lnSpc>
                <a:spcPct val="115000"/>
              </a:lnSpc>
              <a:buNone/>
            </a:pPr>
            <a:r>
              <a:rPr lang="en-US" sz="1250" dirty="0">
                <a:solidFill>
                  <a:srgbClr val="5C7A7D"/>
                </a:solidFill>
                <a:latin typeface="Calibri" pitchFamily="34" charset="0"/>
                <a:ea typeface="Calibri" pitchFamily="34" charset="-122"/>
                <a:cs typeface="Calibri" pitchFamily="34" charset="-120"/>
              </a:rPr>
              <a:t>Client, loan, and repayment data kept in registers or Excel — slow, error-prone, hard to audit.</a:t>
            </a:r>
            <a:endParaRPr lang="en-US" sz="1250" dirty="0"/>
          </a:p>
        </p:txBody>
      </p:sp>
      <p:sp>
        <p:nvSpPr>
          <p:cNvPr id="8" name="Shape 5"/>
          <p:cNvSpPr/>
          <p:nvPr/>
        </p:nvSpPr>
        <p:spPr>
          <a:xfrm>
            <a:off x="548640" y="2926080"/>
            <a:ext cx="502920" cy="502920"/>
          </a:xfrm>
          <a:prstGeom prst="ellipse">
            <a:avLst/>
          </a:prstGeom>
          <a:solidFill>
            <a:srgbClr val="028090"/>
          </a:solidFill>
          <a:ln/>
        </p:spPr>
      </p:sp>
      <p:pic>
        <p:nvPicPr>
          <p:cNvPr id="9" name="Image 1" descr="icon_shield.png">    </p:cNvPr>
          <p:cNvPicPr>
            <a:picLocks noChangeAspect="1"/>
          </p:cNvPicPr>
          <p:nvPr/>
        </p:nvPicPr>
        <p:blipFill>
          <a:blip r:embed="rId2"/>
          <a:stretch>
            <a:fillRect/>
          </a:stretch>
        </p:blipFill>
        <p:spPr>
          <a:xfrm>
            <a:off x="679399" y="3056839"/>
            <a:ext cx="241402" cy="241402"/>
          </a:xfrm>
          <a:prstGeom prst="rect">
            <a:avLst/>
          </a:prstGeom>
        </p:spPr>
      </p:pic>
      <p:sp>
        <p:nvSpPr>
          <p:cNvPr id="10" name="Text 6"/>
          <p:cNvSpPr/>
          <p:nvPr/>
        </p:nvSpPr>
        <p:spPr>
          <a:xfrm>
            <a:off x="1280160" y="2862072"/>
            <a:ext cx="4937760" cy="320040"/>
          </a:xfrm>
          <a:prstGeom prst="rect">
            <a:avLst/>
          </a:prstGeom>
          <a:noFill/>
          <a:ln/>
        </p:spPr>
        <p:txBody>
          <a:bodyPr wrap="square" rtlCol="0" anchor="ctr"/>
          <a:lstStyle/>
          <a:p>
            <a:pPr indent="0" marL="0">
              <a:buNone/>
            </a:pPr>
            <a:r>
              <a:rPr lang="en-US" sz="1500" b="1" dirty="0">
                <a:solidFill>
                  <a:srgbClr val="1B2B2E"/>
                </a:solidFill>
                <a:latin typeface="Calibri" pitchFamily="34" charset="0"/>
                <a:ea typeface="Calibri" pitchFamily="34" charset="-122"/>
                <a:cs typeface="Calibri" pitchFamily="34" charset="-120"/>
              </a:rPr>
              <a:t>Poor data integrity</a:t>
            </a:r>
            <a:endParaRPr lang="en-US" sz="1500" dirty="0"/>
          </a:p>
        </p:txBody>
      </p:sp>
      <p:sp>
        <p:nvSpPr>
          <p:cNvPr id="11" name="Text 7"/>
          <p:cNvSpPr/>
          <p:nvPr/>
        </p:nvSpPr>
        <p:spPr>
          <a:xfrm>
            <a:off x="1280160" y="3191256"/>
            <a:ext cx="5029200" cy="685800"/>
          </a:xfrm>
          <a:prstGeom prst="rect">
            <a:avLst/>
          </a:prstGeom>
          <a:noFill/>
          <a:ln/>
        </p:spPr>
        <p:txBody>
          <a:bodyPr wrap="square" rtlCol="0" anchor="ctr"/>
          <a:lstStyle/>
          <a:p>
            <a:pPr indent="0" marL="0">
              <a:lnSpc>
                <a:spcPct val="115000"/>
              </a:lnSpc>
              <a:buNone/>
            </a:pPr>
            <a:r>
              <a:rPr lang="en-US" sz="1250" dirty="0">
                <a:solidFill>
                  <a:srgbClr val="5C7A7D"/>
                </a:solidFill>
                <a:latin typeface="Calibri" pitchFamily="34" charset="0"/>
                <a:ea typeface="Calibri" pitchFamily="34" charset="-122"/>
                <a:cs typeface="Calibri" pitchFamily="34" charset="-120"/>
              </a:rPr>
              <a:t>No enforced relationships between clients, loans, and payments leads to duplicate or orphaned records.</a:t>
            </a:r>
            <a:endParaRPr lang="en-US" sz="1250" dirty="0"/>
          </a:p>
        </p:txBody>
      </p:sp>
      <p:sp>
        <p:nvSpPr>
          <p:cNvPr id="12" name="Shape 8"/>
          <p:cNvSpPr/>
          <p:nvPr/>
        </p:nvSpPr>
        <p:spPr>
          <a:xfrm>
            <a:off x="548640" y="4096512"/>
            <a:ext cx="502920" cy="502920"/>
          </a:xfrm>
          <a:prstGeom prst="ellipse">
            <a:avLst/>
          </a:prstGeom>
          <a:solidFill>
            <a:srgbClr val="028090"/>
          </a:solidFill>
          <a:ln/>
        </p:spPr>
      </p:sp>
      <p:pic>
        <p:nvPicPr>
          <p:cNvPr id="13" name="Image 2" descr="icon_repayment.png">    </p:cNvPr>
          <p:cNvPicPr>
            <a:picLocks noChangeAspect="1"/>
          </p:cNvPicPr>
          <p:nvPr/>
        </p:nvPicPr>
        <p:blipFill>
          <a:blip r:embed="rId3"/>
          <a:stretch>
            <a:fillRect/>
          </a:stretch>
        </p:blipFill>
        <p:spPr>
          <a:xfrm>
            <a:off x="679399" y="4227271"/>
            <a:ext cx="241402" cy="241402"/>
          </a:xfrm>
          <a:prstGeom prst="rect">
            <a:avLst/>
          </a:prstGeom>
        </p:spPr>
      </p:pic>
      <p:sp>
        <p:nvSpPr>
          <p:cNvPr id="14" name="Text 9"/>
          <p:cNvSpPr/>
          <p:nvPr/>
        </p:nvSpPr>
        <p:spPr>
          <a:xfrm>
            <a:off x="1280160" y="4032504"/>
            <a:ext cx="4937760" cy="320040"/>
          </a:xfrm>
          <a:prstGeom prst="rect">
            <a:avLst/>
          </a:prstGeom>
          <a:noFill/>
          <a:ln/>
        </p:spPr>
        <p:txBody>
          <a:bodyPr wrap="square" rtlCol="0" anchor="ctr"/>
          <a:lstStyle/>
          <a:p>
            <a:pPr indent="0" marL="0">
              <a:buNone/>
            </a:pPr>
            <a:r>
              <a:rPr lang="en-US" sz="1500" b="1" dirty="0">
                <a:solidFill>
                  <a:srgbClr val="1B2B2E"/>
                </a:solidFill>
                <a:latin typeface="Calibri" pitchFamily="34" charset="0"/>
                <a:ea typeface="Calibri" pitchFamily="34" charset="-122"/>
                <a:cs typeface="Calibri" pitchFamily="34" charset="-120"/>
              </a:rPr>
              <a:t>Weak repayment tracking</a:t>
            </a:r>
            <a:endParaRPr lang="en-US" sz="1500" dirty="0"/>
          </a:p>
        </p:txBody>
      </p:sp>
      <p:sp>
        <p:nvSpPr>
          <p:cNvPr id="15" name="Text 10"/>
          <p:cNvSpPr/>
          <p:nvPr/>
        </p:nvSpPr>
        <p:spPr>
          <a:xfrm>
            <a:off x="1280160" y="4361688"/>
            <a:ext cx="5029200" cy="685800"/>
          </a:xfrm>
          <a:prstGeom prst="rect">
            <a:avLst/>
          </a:prstGeom>
          <a:noFill/>
          <a:ln/>
        </p:spPr>
        <p:txBody>
          <a:bodyPr wrap="square" rtlCol="0" anchor="ctr"/>
          <a:lstStyle/>
          <a:p>
            <a:pPr indent="0" marL="0">
              <a:lnSpc>
                <a:spcPct val="115000"/>
              </a:lnSpc>
              <a:buNone/>
            </a:pPr>
            <a:r>
              <a:rPr lang="en-US" sz="1250" dirty="0">
                <a:solidFill>
                  <a:srgbClr val="5C7A7D"/>
                </a:solidFill>
                <a:latin typeface="Calibri" pitchFamily="34" charset="0"/>
                <a:ea typeface="Calibri" pitchFamily="34" charset="-122"/>
                <a:cs typeface="Calibri" pitchFamily="34" charset="-120"/>
              </a:rPr>
              <a:t>Difficult to detect defaulters, calculate outstanding balances, or generate arrears reports in real time.</a:t>
            </a:r>
            <a:endParaRPr lang="en-US" sz="1250" dirty="0"/>
          </a:p>
        </p:txBody>
      </p:sp>
      <p:sp>
        <p:nvSpPr>
          <p:cNvPr id="16" name="Shape 11"/>
          <p:cNvSpPr/>
          <p:nvPr/>
        </p:nvSpPr>
        <p:spPr>
          <a:xfrm>
            <a:off x="548640" y="5266944"/>
            <a:ext cx="502920" cy="502920"/>
          </a:xfrm>
          <a:prstGeom prst="ellipse">
            <a:avLst/>
          </a:prstGeom>
          <a:solidFill>
            <a:srgbClr val="028090"/>
          </a:solidFill>
          <a:ln/>
        </p:spPr>
      </p:sp>
      <p:pic>
        <p:nvPicPr>
          <p:cNvPr id="17" name="Image 3" descr="icon_cloud.png">    </p:cNvPr>
          <p:cNvPicPr>
            <a:picLocks noChangeAspect="1"/>
          </p:cNvPicPr>
          <p:nvPr/>
        </p:nvPicPr>
        <p:blipFill>
          <a:blip r:embed="rId4"/>
          <a:stretch>
            <a:fillRect/>
          </a:stretch>
        </p:blipFill>
        <p:spPr>
          <a:xfrm>
            <a:off x="679399" y="5397703"/>
            <a:ext cx="241402" cy="241402"/>
          </a:xfrm>
          <a:prstGeom prst="rect">
            <a:avLst/>
          </a:prstGeom>
        </p:spPr>
      </p:pic>
      <p:sp>
        <p:nvSpPr>
          <p:cNvPr id="18" name="Text 12"/>
          <p:cNvSpPr/>
          <p:nvPr/>
        </p:nvSpPr>
        <p:spPr>
          <a:xfrm>
            <a:off x="1280160" y="5202936"/>
            <a:ext cx="4937760" cy="320040"/>
          </a:xfrm>
          <a:prstGeom prst="rect">
            <a:avLst/>
          </a:prstGeom>
          <a:noFill/>
          <a:ln/>
        </p:spPr>
        <p:txBody>
          <a:bodyPr wrap="square" rtlCol="0" anchor="ctr"/>
          <a:lstStyle/>
          <a:p>
            <a:pPr indent="0" marL="0">
              <a:buNone/>
            </a:pPr>
            <a:r>
              <a:rPr lang="en-US" sz="1500" b="1" dirty="0">
                <a:solidFill>
                  <a:srgbClr val="1B2B2E"/>
                </a:solidFill>
                <a:latin typeface="Calibri" pitchFamily="34" charset="0"/>
                <a:ea typeface="Calibri" pitchFamily="34" charset="-122"/>
                <a:cs typeface="Calibri" pitchFamily="34" charset="-120"/>
              </a:rPr>
              <a:t>Limited reporting &amp; scalability</a:t>
            </a:r>
            <a:endParaRPr lang="en-US" sz="1500" dirty="0"/>
          </a:p>
        </p:txBody>
      </p:sp>
      <p:sp>
        <p:nvSpPr>
          <p:cNvPr id="19" name="Text 13"/>
          <p:cNvSpPr/>
          <p:nvPr/>
        </p:nvSpPr>
        <p:spPr>
          <a:xfrm>
            <a:off x="1280160" y="5532120"/>
            <a:ext cx="5029200" cy="685800"/>
          </a:xfrm>
          <a:prstGeom prst="rect">
            <a:avLst/>
          </a:prstGeom>
          <a:noFill/>
          <a:ln/>
        </p:spPr>
        <p:txBody>
          <a:bodyPr wrap="square" rtlCol="0" anchor="ctr"/>
          <a:lstStyle/>
          <a:p>
            <a:pPr indent="0" marL="0">
              <a:lnSpc>
                <a:spcPct val="115000"/>
              </a:lnSpc>
              <a:buNone/>
            </a:pPr>
            <a:r>
              <a:rPr lang="en-US" sz="1250" dirty="0">
                <a:solidFill>
                  <a:srgbClr val="5C7A7D"/>
                </a:solidFill>
                <a:latin typeface="Calibri" pitchFamily="34" charset="0"/>
                <a:ea typeface="Calibri" pitchFamily="34" charset="-122"/>
                <a:cs typeface="Calibri" pitchFamily="34" charset="-120"/>
              </a:rPr>
              <a:t>Branch officers cannot easily consolidate data across branches for portfolio-at-risk analysis.</a:t>
            </a:r>
            <a:endParaRPr lang="en-US" sz="1250" dirty="0"/>
          </a:p>
        </p:txBody>
      </p:sp>
      <p:sp>
        <p:nvSpPr>
          <p:cNvPr id="20" name="Shape 14"/>
          <p:cNvSpPr/>
          <p:nvPr/>
        </p:nvSpPr>
        <p:spPr>
          <a:xfrm>
            <a:off x="6903720" y="1691640"/>
            <a:ext cx="4754880" cy="4480560"/>
          </a:xfrm>
          <a:prstGeom prst="roundRect">
            <a:avLst>
              <a:gd name="adj" fmla="val 2449"/>
            </a:avLst>
          </a:prstGeom>
          <a:solidFill>
            <a:srgbClr val="013A40"/>
          </a:solidFill>
          <a:ln/>
        </p:spPr>
      </p:sp>
      <p:sp>
        <p:nvSpPr>
          <p:cNvPr id="21" name="Text 15"/>
          <p:cNvSpPr/>
          <p:nvPr/>
        </p:nvSpPr>
        <p:spPr>
          <a:xfrm>
            <a:off x="7269480" y="1965960"/>
            <a:ext cx="4023360" cy="320040"/>
          </a:xfrm>
          <a:prstGeom prst="rect">
            <a:avLst/>
          </a:prstGeom>
          <a:noFill/>
          <a:ln/>
        </p:spPr>
        <p:txBody>
          <a:bodyPr wrap="square"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WHY IT MATTERS</a:t>
            </a:r>
            <a:endParaRPr lang="en-US" sz="1200" dirty="0"/>
          </a:p>
        </p:txBody>
      </p:sp>
      <p:sp>
        <p:nvSpPr>
          <p:cNvPr id="22" name="Text 16"/>
          <p:cNvSpPr/>
          <p:nvPr/>
        </p:nvSpPr>
        <p:spPr>
          <a:xfrm>
            <a:off x="7269480" y="2331720"/>
            <a:ext cx="4023360" cy="82296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70%+</a:t>
            </a:r>
            <a:endParaRPr lang="en-US" sz="5400" dirty="0"/>
          </a:p>
        </p:txBody>
      </p:sp>
      <p:sp>
        <p:nvSpPr>
          <p:cNvPr id="23" name="Text 17"/>
          <p:cNvSpPr/>
          <p:nvPr/>
        </p:nvSpPr>
        <p:spPr>
          <a:xfrm>
            <a:off x="7269480" y="3154680"/>
            <a:ext cx="4023360" cy="914400"/>
          </a:xfrm>
          <a:prstGeom prst="rect">
            <a:avLst/>
          </a:prstGeom>
          <a:noFill/>
          <a:ln/>
        </p:spPr>
        <p:txBody>
          <a:bodyPr wrap="square" rtlCol="0" anchor="ctr"/>
          <a:lstStyle/>
          <a:p>
            <a:pPr indent="0" marL="0">
              <a:lnSpc>
                <a:spcPct val="120000"/>
              </a:lnSpc>
              <a:buNone/>
            </a:pPr>
            <a:r>
              <a:rPr lang="en-US" sz="1250" dirty="0">
                <a:solidFill>
                  <a:srgbClr val="CFE8E6"/>
                </a:solidFill>
                <a:latin typeface="Calibri" pitchFamily="34" charset="0"/>
                <a:ea typeface="Calibri" pitchFamily="34" charset="-122"/>
                <a:cs typeface="Calibri" pitchFamily="34" charset="-120"/>
              </a:rPr>
              <a:t>of microfinance clients are unbanked or underbanked — accurate records are essential to serve them responsibly.</a:t>
            </a:r>
            <a:endParaRPr lang="en-US" sz="1250" dirty="0"/>
          </a:p>
        </p:txBody>
      </p:sp>
      <p:sp>
        <p:nvSpPr>
          <p:cNvPr id="24" name="Shape 18"/>
          <p:cNvSpPr/>
          <p:nvPr/>
        </p:nvSpPr>
        <p:spPr>
          <a:xfrm>
            <a:off x="7269480" y="4160520"/>
            <a:ext cx="4023360" cy="0"/>
          </a:xfrm>
          <a:prstGeom prst="line">
            <a:avLst/>
          </a:prstGeom>
          <a:noFill/>
          <a:ln w="12700">
            <a:solidFill>
              <a:srgbClr val="028090"/>
            </a:solidFill>
            <a:prstDash val="solid"/>
          </a:ln>
        </p:spPr>
      </p:sp>
      <p:sp>
        <p:nvSpPr>
          <p:cNvPr id="25" name="Text 19"/>
          <p:cNvSpPr/>
          <p:nvPr/>
        </p:nvSpPr>
        <p:spPr>
          <a:xfrm>
            <a:off x="7269480" y="4389120"/>
            <a:ext cx="4023360" cy="1600200"/>
          </a:xfrm>
          <a:prstGeom prst="rect">
            <a:avLst/>
          </a:prstGeom>
          <a:noFill/>
          <a:ln/>
        </p:spPr>
        <p:txBody>
          <a:bodyPr wrap="square" rtlCol="0" anchor="ctr"/>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A well-designed relational database solves this by centralizing client, loan, and repayment data with enforced integrity, fast queries, and audit-ready reporting.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indent="0" marL="0">
              <a:buNone/>
            </a:pPr>
            <a:r>
              <a:rPr lang="en-US" sz="3200" b="1" dirty="0">
                <a:solidFill>
                  <a:srgbClr val="1B2B2E"/>
                </a:solidFill>
                <a:latin typeface="Cambria" pitchFamily="34" charset="0"/>
                <a:ea typeface="Cambria" pitchFamily="34" charset="-122"/>
                <a:cs typeface="Cambria" pitchFamily="34" charset="-120"/>
              </a:rPr>
              <a:t>Database Design</a:t>
            </a:r>
            <a:endParaRPr lang="en-US" sz="3200" dirty="0"/>
          </a:p>
        </p:txBody>
      </p:sp>
      <p:sp>
        <p:nvSpPr>
          <p:cNvPr id="3" name="Text 1"/>
          <p:cNvSpPr/>
          <p:nvPr/>
        </p:nvSpPr>
        <p:spPr>
          <a:xfrm>
            <a:off x="548640" y="960120"/>
            <a:ext cx="8229600" cy="365760"/>
          </a:xfrm>
          <a:prstGeom prst="rect">
            <a:avLst/>
          </a:prstGeom>
          <a:noFill/>
          <a:ln/>
        </p:spPr>
        <p:txBody>
          <a:bodyPr wrap="square" rtlCol="0" anchor="ctr"/>
          <a:lstStyle/>
          <a:p>
            <a:pPr indent="0" marL="0">
              <a:buNone/>
            </a:pPr>
            <a:r>
              <a:rPr lang="en-US" sz="1400" i="1" dirty="0">
                <a:solidFill>
                  <a:srgbClr val="5C7A7D"/>
                </a:solidFill>
                <a:latin typeface="Calibri" pitchFamily="34" charset="0"/>
                <a:ea typeface="Calibri" pitchFamily="34" charset="-122"/>
                <a:cs typeface="Calibri" pitchFamily="34" charset="-120"/>
              </a:rPr>
              <a:t>Core entities and relationships (conceptual ER model)</a:t>
            </a:r>
            <a:endParaRPr lang="en-US" sz="1400" dirty="0"/>
          </a:p>
        </p:txBody>
      </p:sp>
      <p:sp>
        <p:nvSpPr>
          <p:cNvPr id="4" name="Shape 2"/>
          <p:cNvSpPr/>
          <p:nvPr/>
        </p:nvSpPr>
        <p:spPr>
          <a:xfrm>
            <a:off x="457200" y="1600200"/>
            <a:ext cx="2331720" cy="1691640"/>
          </a:xfrm>
          <a:prstGeom prst="roundRect">
            <a:avLst>
              <a:gd name="adj" fmla="val 4324"/>
            </a:avLst>
          </a:prstGeom>
          <a:solidFill>
            <a:srgbClr val="F4F9F8"/>
          </a:solidFill>
          <a:ln w="19050">
            <a:solidFill>
              <a:srgbClr val="013A40"/>
            </a:solidFill>
            <a:prstDash val="solid"/>
          </a:ln>
        </p:spPr>
      </p:sp>
      <p:sp>
        <p:nvSpPr>
          <p:cNvPr id="5" name="Shape 3"/>
          <p:cNvSpPr/>
          <p:nvPr/>
        </p:nvSpPr>
        <p:spPr>
          <a:xfrm>
            <a:off x="457200" y="1600200"/>
            <a:ext cx="2331720" cy="457200"/>
          </a:xfrm>
          <a:prstGeom prst="roundRect">
            <a:avLst>
              <a:gd name="adj" fmla="val 16000"/>
            </a:avLst>
          </a:prstGeom>
          <a:solidFill>
            <a:srgbClr val="013A40"/>
          </a:solidFill>
          <a:ln/>
        </p:spPr>
      </p:sp>
      <p:sp>
        <p:nvSpPr>
          <p:cNvPr id="6" name="Shape 4"/>
          <p:cNvSpPr/>
          <p:nvPr/>
        </p:nvSpPr>
        <p:spPr>
          <a:xfrm>
            <a:off x="457200" y="1828800"/>
            <a:ext cx="2331720" cy="228600"/>
          </a:xfrm>
          <a:prstGeom prst="rect">
            <a:avLst/>
          </a:prstGeom>
          <a:solidFill>
            <a:srgbClr val="013A40"/>
          </a:solidFill>
          <a:ln/>
        </p:spPr>
      </p:sp>
      <p:pic>
        <p:nvPicPr>
          <p:cNvPr id="7" name="Image 0" descr="icon_branch.png">    </p:cNvPr>
          <p:cNvPicPr>
            <a:picLocks noChangeAspect="1"/>
          </p:cNvPicPr>
          <p:nvPr/>
        </p:nvPicPr>
        <p:blipFill>
          <a:blip r:embed="rId1"/>
          <a:stretch>
            <a:fillRect/>
          </a:stretch>
        </p:blipFill>
        <p:spPr>
          <a:xfrm>
            <a:off x="566928" y="1691640"/>
            <a:ext cx="274320" cy="274320"/>
          </a:xfrm>
          <a:prstGeom prst="rect">
            <a:avLst/>
          </a:prstGeom>
        </p:spPr>
      </p:pic>
      <p:sp>
        <p:nvSpPr>
          <p:cNvPr id="8" name="Text 5"/>
          <p:cNvSpPr/>
          <p:nvPr/>
        </p:nvSpPr>
        <p:spPr>
          <a:xfrm>
            <a:off x="914400" y="1600200"/>
            <a:ext cx="178308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BRANCH</a:t>
            </a:r>
            <a:endParaRPr lang="en-US" sz="1300" dirty="0"/>
          </a:p>
        </p:txBody>
      </p:sp>
      <p:sp>
        <p:nvSpPr>
          <p:cNvPr id="9" name="Text 6"/>
          <p:cNvSpPr/>
          <p:nvPr/>
        </p:nvSpPr>
        <p:spPr>
          <a:xfrm>
            <a:off x="594360" y="2130552"/>
            <a:ext cx="2057400" cy="1069848"/>
          </a:xfrm>
          <a:prstGeom prst="rect">
            <a:avLst/>
          </a:prstGeom>
          <a:noFill/>
          <a:ln/>
        </p:spPr>
        <p:txBody>
          <a:bodyPr wrap="square" rtlCol="0" anchor="t"/>
          <a:lstStyle/>
          <a:p>
            <a:pPr marL="127000" indent="-127000">
              <a:lnSpc>
                <a:spcPct val="120000"/>
              </a:lnSpc>
              <a:buSzPct val="100000"/>
              <a:buChar char="•"/>
            </a:pPr>
            <a:r>
              <a:rPr lang="en-US" sz="1050" dirty="0">
                <a:solidFill>
                  <a:srgbClr val="1B2B2E"/>
                </a:solidFill>
                <a:latin typeface="Calibri" pitchFamily="34" charset="0"/>
                <a:ea typeface="Calibri" pitchFamily="34" charset="-122"/>
                <a:cs typeface="Calibri" pitchFamily="34" charset="-120"/>
              </a:rPr>
              <a:t>branch_id (PK)</a:t>
            </a:r>
            <a:endParaRPr lang="en-US" sz="1050" dirty="0"/>
          </a:p>
          <a:p>
            <a:pPr marL="127000" indent="-127000">
              <a:lnSpc>
                <a:spcPct val="120000"/>
              </a:lnSpc>
              <a:buSzPct val="100000"/>
              <a:buChar char="•"/>
            </a:pPr>
            <a:r>
              <a:rPr lang="en-US" sz="1050" dirty="0">
                <a:solidFill>
                  <a:srgbClr val="1B2B2E"/>
                </a:solidFill>
                <a:latin typeface="Calibri" pitchFamily="34" charset="0"/>
                <a:ea typeface="Calibri" pitchFamily="34" charset="-122"/>
                <a:cs typeface="Calibri" pitchFamily="34" charset="-120"/>
              </a:rPr>
              <a:t>branch_name</a:t>
            </a:r>
            <a:endParaRPr lang="en-US" sz="1050" dirty="0"/>
          </a:p>
          <a:p>
            <a:pPr marL="127000" indent="-127000">
              <a:lnSpc>
                <a:spcPct val="120000"/>
              </a:lnSpc>
              <a:buSzPct val="100000"/>
              <a:buChar char="•"/>
            </a:pPr>
            <a:r>
              <a:rPr lang="en-US" sz="1050" dirty="0">
                <a:solidFill>
                  <a:srgbClr val="1B2B2E"/>
                </a:solidFill>
                <a:latin typeface="Calibri" pitchFamily="34" charset="0"/>
                <a:ea typeface="Calibri" pitchFamily="34" charset="-122"/>
                <a:cs typeface="Calibri" pitchFamily="34" charset="-120"/>
              </a:rPr>
              <a:t>location</a:t>
            </a:r>
            <a:endParaRPr lang="en-US" sz="1050" dirty="0"/>
          </a:p>
        </p:txBody>
      </p:sp>
      <p:sp>
        <p:nvSpPr>
          <p:cNvPr id="10" name="Shape 7"/>
          <p:cNvSpPr/>
          <p:nvPr/>
        </p:nvSpPr>
        <p:spPr>
          <a:xfrm>
            <a:off x="457200" y="3703320"/>
            <a:ext cx="2331720" cy="1691640"/>
          </a:xfrm>
          <a:prstGeom prst="roundRect">
            <a:avLst>
              <a:gd name="adj" fmla="val 4324"/>
            </a:avLst>
          </a:prstGeom>
          <a:solidFill>
            <a:srgbClr val="F4F9F8"/>
          </a:solidFill>
          <a:ln w="19050">
            <a:solidFill>
              <a:srgbClr val="013A40"/>
            </a:solidFill>
            <a:prstDash val="solid"/>
          </a:ln>
        </p:spPr>
      </p:sp>
      <p:sp>
        <p:nvSpPr>
          <p:cNvPr id="11" name="Shape 8"/>
          <p:cNvSpPr/>
          <p:nvPr/>
        </p:nvSpPr>
        <p:spPr>
          <a:xfrm>
            <a:off x="457200" y="3703320"/>
            <a:ext cx="2331720" cy="457200"/>
          </a:xfrm>
          <a:prstGeom prst="roundRect">
            <a:avLst>
              <a:gd name="adj" fmla="val 16000"/>
            </a:avLst>
          </a:prstGeom>
          <a:solidFill>
            <a:srgbClr val="013A40"/>
          </a:solidFill>
          <a:ln/>
        </p:spPr>
      </p:sp>
      <p:sp>
        <p:nvSpPr>
          <p:cNvPr id="12" name="Shape 9"/>
          <p:cNvSpPr/>
          <p:nvPr/>
        </p:nvSpPr>
        <p:spPr>
          <a:xfrm>
            <a:off x="457200" y="3931920"/>
            <a:ext cx="2331720" cy="228600"/>
          </a:xfrm>
          <a:prstGeom prst="rect">
            <a:avLst/>
          </a:prstGeom>
          <a:solidFill>
            <a:srgbClr val="013A40"/>
          </a:solidFill>
          <a:ln/>
        </p:spPr>
      </p:sp>
      <p:pic>
        <p:nvPicPr>
          <p:cNvPr id="13" name="Image 1" descr="icon_officer.png">    </p:cNvPr>
          <p:cNvPicPr>
            <a:picLocks noChangeAspect="1"/>
          </p:cNvPicPr>
          <p:nvPr/>
        </p:nvPicPr>
        <p:blipFill>
          <a:blip r:embed="rId2"/>
          <a:stretch>
            <a:fillRect/>
          </a:stretch>
        </p:blipFill>
        <p:spPr>
          <a:xfrm>
            <a:off x="566928" y="3794760"/>
            <a:ext cx="274320" cy="274320"/>
          </a:xfrm>
          <a:prstGeom prst="rect">
            <a:avLst/>
          </a:prstGeom>
        </p:spPr>
      </p:pic>
      <p:sp>
        <p:nvSpPr>
          <p:cNvPr id="14" name="Text 10"/>
          <p:cNvSpPr/>
          <p:nvPr/>
        </p:nvSpPr>
        <p:spPr>
          <a:xfrm>
            <a:off x="914400" y="3703320"/>
            <a:ext cx="178308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LOAN OFFICER</a:t>
            </a:r>
            <a:endParaRPr lang="en-US" sz="1300" dirty="0"/>
          </a:p>
        </p:txBody>
      </p:sp>
      <p:sp>
        <p:nvSpPr>
          <p:cNvPr id="15" name="Text 11"/>
          <p:cNvSpPr/>
          <p:nvPr/>
        </p:nvSpPr>
        <p:spPr>
          <a:xfrm>
            <a:off x="594360" y="4233672"/>
            <a:ext cx="2057400" cy="1069848"/>
          </a:xfrm>
          <a:prstGeom prst="rect">
            <a:avLst/>
          </a:prstGeom>
          <a:noFill/>
          <a:ln/>
        </p:spPr>
        <p:txBody>
          <a:bodyPr wrap="square" rtlCol="0" anchor="t"/>
          <a:lstStyle/>
          <a:p>
            <a:pPr marL="127000" indent="-127000">
              <a:lnSpc>
                <a:spcPct val="120000"/>
              </a:lnSpc>
              <a:buSzPct val="100000"/>
              <a:buChar char="•"/>
            </a:pPr>
            <a:r>
              <a:rPr lang="en-US" sz="1050" dirty="0">
                <a:solidFill>
                  <a:srgbClr val="1B2B2E"/>
                </a:solidFill>
                <a:latin typeface="Calibri" pitchFamily="34" charset="0"/>
                <a:ea typeface="Calibri" pitchFamily="34" charset="-122"/>
                <a:cs typeface="Calibri" pitchFamily="34" charset="-120"/>
              </a:rPr>
              <a:t>officer_id (PK)</a:t>
            </a:r>
            <a:endParaRPr lang="en-US" sz="1050" dirty="0"/>
          </a:p>
          <a:p>
            <a:pPr marL="127000" indent="-127000">
              <a:lnSpc>
                <a:spcPct val="120000"/>
              </a:lnSpc>
              <a:buSzPct val="100000"/>
              <a:buChar char="•"/>
            </a:pPr>
            <a:r>
              <a:rPr lang="en-US" sz="1050" dirty="0">
                <a:solidFill>
                  <a:srgbClr val="1B2B2E"/>
                </a:solidFill>
                <a:latin typeface="Calibri" pitchFamily="34" charset="0"/>
                <a:ea typeface="Calibri" pitchFamily="34" charset="-122"/>
                <a:cs typeface="Calibri" pitchFamily="34" charset="-120"/>
              </a:rPr>
              <a:t>branch_id (FK)</a:t>
            </a:r>
            <a:endParaRPr lang="en-US" sz="1050" dirty="0"/>
          </a:p>
          <a:p>
            <a:pPr marL="127000" indent="-127000">
              <a:lnSpc>
                <a:spcPct val="120000"/>
              </a:lnSpc>
              <a:buSzPct val="100000"/>
              <a:buChar char="•"/>
            </a:pPr>
            <a:r>
              <a:rPr lang="en-US" sz="1050" dirty="0">
                <a:solidFill>
                  <a:srgbClr val="1B2B2E"/>
                </a:solidFill>
                <a:latin typeface="Calibri" pitchFamily="34" charset="0"/>
                <a:ea typeface="Calibri" pitchFamily="34" charset="-122"/>
                <a:cs typeface="Calibri" pitchFamily="34" charset="-120"/>
              </a:rPr>
              <a:t>full_name</a:t>
            </a:r>
            <a:endParaRPr lang="en-US" sz="1050" dirty="0"/>
          </a:p>
        </p:txBody>
      </p:sp>
      <p:sp>
        <p:nvSpPr>
          <p:cNvPr id="16" name="Shape 12"/>
          <p:cNvSpPr/>
          <p:nvPr/>
        </p:nvSpPr>
        <p:spPr>
          <a:xfrm>
            <a:off x="3246120" y="2651760"/>
            <a:ext cx="2331720" cy="1691640"/>
          </a:xfrm>
          <a:prstGeom prst="roundRect">
            <a:avLst>
              <a:gd name="adj" fmla="val 4324"/>
            </a:avLst>
          </a:prstGeom>
          <a:solidFill>
            <a:srgbClr val="F4F9F8"/>
          </a:solidFill>
          <a:ln w="19050">
            <a:solidFill>
              <a:srgbClr val="028090"/>
            </a:solidFill>
            <a:prstDash val="solid"/>
          </a:ln>
        </p:spPr>
      </p:sp>
      <p:sp>
        <p:nvSpPr>
          <p:cNvPr id="17" name="Shape 13"/>
          <p:cNvSpPr/>
          <p:nvPr/>
        </p:nvSpPr>
        <p:spPr>
          <a:xfrm>
            <a:off x="3246120" y="2651760"/>
            <a:ext cx="2331720" cy="457200"/>
          </a:xfrm>
          <a:prstGeom prst="roundRect">
            <a:avLst>
              <a:gd name="adj" fmla="val 16000"/>
            </a:avLst>
          </a:prstGeom>
          <a:solidFill>
            <a:srgbClr val="028090"/>
          </a:solidFill>
          <a:ln/>
        </p:spPr>
      </p:sp>
      <p:sp>
        <p:nvSpPr>
          <p:cNvPr id="18" name="Shape 14"/>
          <p:cNvSpPr/>
          <p:nvPr/>
        </p:nvSpPr>
        <p:spPr>
          <a:xfrm>
            <a:off x="3246120" y="2880360"/>
            <a:ext cx="2331720" cy="228600"/>
          </a:xfrm>
          <a:prstGeom prst="rect">
            <a:avLst/>
          </a:prstGeom>
          <a:solidFill>
            <a:srgbClr val="028090"/>
          </a:solidFill>
          <a:ln/>
        </p:spPr>
      </p:sp>
      <p:pic>
        <p:nvPicPr>
          <p:cNvPr id="19" name="Image 2" descr="icon_users.png">    </p:cNvPr>
          <p:cNvPicPr>
            <a:picLocks noChangeAspect="1"/>
          </p:cNvPicPr>
          <p:nvPr/>
        </p:nvPicPr>
        <p:blipFill>
          <a:blip r:embed="rId3"/>
          <a:stretch>
            <a:fillRect/>
          </a:stretch>
        </p:blipFill>
        <p:spPr>
          <a:xfrm>
            <a:off x="3355848" y="2743200"/>
            <a:ext cx="274320" cy="274320"/>
          </a:xfrm>
          <a:prstGeom prst="rect">
            <a:avLst/>
          </a:prstGeom>
        </p:spPr>
      </p:pic>
      <p:sp>
        <p:nvSpPr>
          <p:cNvPr id="20" name="Text 15"/>
          <p:cNvSpPr/>
          <p:nvPr/>
        </p:nvSpPr>
        <p:spPr>
          <a:xfrm>
            <a:off x="3703320" y="2651760"/>
            <a:ext cx="178308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CLIENT</a:t>
            </a:r>
            <a:endParaRPr lang="en-US" sz="1300" dirty="0"/>
          </a:p>
        </p:txBody>
      </p:sp>
      <p:sp>
        <p:nvSpPr>
          <p:cNvPr id="21" name="Text 16"/>
          <p:cNvSpPr/>
          <p:nvPr/>
        </p:nvSpPr>
        <p:spPr>
          <a:xfrm>
            <a:off x="3383280" y="3182112"/>
            <a:ext cx="2057400" cy="1069848"/>
          </a:xfrm>
          <a:prstGeom prst="rect">
            <a:avLst/>
          </a:prstGeom>
          <a:noFill/>
          <a:ln/>
        </p:spPr>
        <p:txBody>
          <a:bodyPr wrap="square" rtlCol="0" anchor="t"/>
          <a:lstStyle/>
          <a:p>
            <a:pPr marL="127000" indent="-127000">
              <a:lnSpc>
                <a:spcPct val="120000"/>
              </a:lnSpc>
              <a:buSzPct val="100000"/>
              <a:buChar char="•"/>
            </a:pPr>
            <a:r>
              <a:rPr lang="en-US" sz="1050" dirty="0">
                <a:solidFill>
                  <a:srgbClr val="1B2B2E"/>
                </a:solidFill>
                <a:latin typeface="Calibri" pitchFamily="34" charset="0"/>
                <a:ea typeface="Calibri" pitchFamily="34" charset="-122"/>
                <a:cs typeface="Calibri" pitchFamily="34" charset="-120"/>
              </a:rPr>
              <a:t>client_id (PK)</a:t>
            </a:r>
            <a:endParaRPr lang="en-US" sz="1050" dirty="0"/>
          </a:p>
          <a:p>
            <a:pPr marL="127000" indent="-127000">
              <a:lnSpc>
                <a:spcPct val="120000"/>
              </a:lnSpc>
              <a:buSzPct val="100000"/>
              <a:buChar char="•"/>
            </a:pPr>
            <a:r>
              <a:rPr lang="en-US" sz="1050" dirty="0">
                <a:solidFill>
                  <a:srgbClr val="1B2B2E"/>
                </a:solidFill>
                <a:latin typeface="Calibri" pitchFamily="34" charset="0"/>
                <a:ea typeface="Calibri" pitchFamily="34" charset="-122"/>
                <a:cs typeface="Calibri" pitchFamily="34" charset="-120"/>
              </a:rPr>
              <a:t>officer_id (FK)</a:t>
            </a:r>
            <a:endParaRPr lang="en-US" sz="1050" dirty="0"/>
          </a:p>
          <a:p>
            <a:pPr marL="127000" indent="-127000">
              <a:lnSpc>
                <a:spcPct val="120000"/>
              </a:lnSpc>
              <a:buSzPct val="100000"/>
              <a:buChar char="•"/>
            </a:pPr>
            <a:r>
              <a:rPr lang="en-US" sz="1050" dirty="0">
                <a:solidFill>
                  <a:srgbClr val="1B2B2E"/>
                </a:solidFill>
                <a:latin typeface="Calibri" pitchFamily="34" charset="0"/>
                <a:ea typeface="Calibri" pitchFamily="34" charset="-122"/>
                <a:cs typeface="Calibri" pitchFamily="34" charset="-120"/>
              </a:rPr>
              <a:t>name, contact, ID no.</a:t>
            </a:r>
            <a:endParaRPr lang="en-US" sz="1050" dirty="0"/>
          </a:p>
        </p:txBody>
      </p:sp>
      <p:sp>
        <p:nvSpPr>
          <p:cNvPr id="22" name="Shape 17"/>
          <p:cNvSpPr/>
          <p:nvPr/>
        </p:nvSpPr>
        <p:spPr>
          <a:xfrm>
            <a:off x="6035040" y="1600200"/>
            <a:ext cx="2331720" cy="1691640"/>
          </a:xfrm>
          <a:prstGeom prst="roundRect">
            <a:avLst>
              <a:gd name="adj" fmla="val 4324"/>
            </a:avLst>
          </a:prstGeom>
          <a:solidFill>
            <a:srgbClr val="F4F9F8"/>
          </a:solidFill>
          <a:ln w="19050">
            <a:solidFill>
              <a:srgbClr val="00A896"/>
            </a:solidFill>
            <a:prstDash val="solid"/>
          </a:ln>
        </p:spPr>
      </p:sp>
      <p:sp>
        <p:nvSpPr>
          <p:cNvPr id="23" name="Shape 18"/>
          <p:cNvSpPr/>
          <p:nvPr/>
        </p:nvSpPr>
        <p:spPr>
          <a:xfrm>
            <a:off x="6035040" y="1600200"/>
            <a:ext cx="2331720" cy="457200"/>
          </a:xfrm>
          <a:prstGeom prst="roundRect">
            <a:avLst>
              <a:gd name="adj" fmla="val 16000"/>
            </a:avLst>
          </a:prstGeom>
          <a:solidFill>
            <a:srgbClr val="00A896"/>
          </a:solidFill>
          <a:ln/>
        </p:spPr>
      </p:sp>
      <p:sp>
        <p:nvSpPr>
          <p:cNvPr id="24" name="Shape 19"/>
          <p:cNvSpPr/>
          <p:nvPr/>
        </p:nvSpPr>
        <p:spPr>
          <a:xfrm>
            <a:off x="6035040" y="1828800"/>
            <a:ext cx="2331720" cy="228600"/>
          </a:xfrm>
          <a:prstGeom prst="rect">
            <a:avLst/>
          </a:prstGeom>
          <a:solidFill>
            <a:srgbClr val="00A896"/>
          </a:solidFill>
          <a:ln/>
        </p:spPr>
      </p:sp>
      <p:pic>
        <p:nvPicPr>
          <p:cNvPr id="25" name="Image 3" descr="icon_loan.png">    </p:cNvPr>
          <p:cNvPicPr>
            <a:picLocks noChangeAspect="1"/>
          </p:cNvPicPr>
          <p:nvPr/>
        </p:nvPicPr>
        <p:blipFill>
          <a:blip r:embed="rId4"/>
          <a:stretch>
            <a:fillRect/>
          </a:stretch>
        </p:blipFill>
        <p:spPr>
          <a:xfrm>
            <a:off x="6144768" y="1691640"/>
            <a:ext cx="274320" cy="274320"/>
          </a:xfrm>
          <a:prstGeom prst="rect">
            <a:avLst/>
          </a:prstGeom>
        </p:spPr>
      </p:pic>
      <p:sp>
        <p:nvSpPr>
          <p:cNvPr id="26" name="Text 20"/>
          <p:cNvSpPr/>
          <p:nvPr/>
        </p:nvSpPr>
        <p:spPr>
          <a:xfrm>
            <a:off x="6492240" y="1600200"/>
            <a:ext cx="178308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LOAN</a:t>
            </a:r>
            <a:endParaRPr lang="en-US" sz="1300" dirty="0"/>
          </a:p>
        </p:txBody>
      </p:sp>
      <p:sp>
        <p:nvSpPr>
          <p:cNvPr id="27" name="Text 21"/>
          <p:cNvSpPr/>
          <p:nvPr/>
        </p:nvSpPr>
        <p:spPr>
          <a:xfrm>
            <a:off x="6172200" y="2130552"/>
            <a:ext cx="2057400" cy="1069848"/>
          </a:xfrm>
          <a:prstGeom prst="rect">
            <a:avLst/>
          </a:prstGeom>
          <a:noFill/>
          <a:ln/>
        </p:spPr>
        <p:txBody>
          <a:bodyPr wrap="square" rtlCol="0" anchor="t"/>
          <a:lstStyle/>
          <a:p>
            <a:pPr marL="127000" indent="-127000">
              <a:lnSpc>
                <a:spcPct val="120000"/>
              </a:lnSpc>
              <a:buSzPct val="100000"/>
              <a:buChar char="•"/>
            </a:pPr>
            <a:r>
              <a:rPr lang="en-US" sz="1050" dirty="0">
                <a:solidFill>
                  <a:srgbClr val="1B2B2E"/>
                </a:solidFill>
                <a:latin typeface="Calibri" pitchFamily="34" charset="0"/>
                <a:ea typeface="Calibri" pitchFamily="34" charset="-122"/>
                <a:cs typeface="Calibri" pitchFamily="34" charset="-120"/>
              </a:rPr>
              <a:t>loan_id (PK)</a:t>
            </a:r>
            <a:endParaRPr lang="en-US" sz="1050" dirty="0"/>
          </a:p>
          <a:p>
            <a:pPr marL="127000" indent="-127000">
              <a:lnSpc>
                <a:spcPct val="120000"/>
              </a:lnSpc>
              <a:buSzPct val="100000"/>
              <a:buChar char="•"/>
            </a:pPr>
            <a:r>
              <a:rPr lang="en-US" sz="1050" dirty="0">
                <a:solidFill>
                  <a:srgbClr val="1B2B2E"/>
                </a:solidFill>
                <a:latin typeface="Calibri" pitchFamily="34" charset="0"/>
                <a:ea typeface="Calibri" pitchFamily="34" charset="-122"/>
                <a:cs typeface="Calibri" pitchFamily="34" charset="-120"/>
              </a:rPr>
              <a:t>client_id (FK)</a:t>
            </a:r>
            <a:endParaRPr lang="en-US" sz="1050" dirty="0"/>
          </a:p>
          <a:p>
            <a:pPr marL="127000" indent="-127000">
              <a:lnSpc>
                <a:spcPct val="120000"/>
              </a:lnSpc>
              <a:buSzPct val="100000"/>
              <a:buChar char="•"/>
            </a:pPr>
            <a:r>
              <a:rPr lang="en-US" sz="1050" dirty="0">
                <a:solidFill>
                  <a:srgbClr val="1B2B2E"/>
                </a:solidFill>
                <a:latin typeface="Calibri" pitchFamily="34" charset="0"/>
                <a:ea typeface="Calibri" pitchFamily="34" charset="-122"/>
                <a:cs typeface="Calibri" pitchFamily="34" charset="-120"/>
              </a:rPr>
              <a:t>principal, rate, term, status</a:t>
            </a:r>
            <a:endParaRPr lang="en-US" sz="1050" dirty="0"/>
          </a:p>
        </p:txBody>
      </p:sp>
      <p:sp>
        <p:nvSpPr>
          <p:cNvPr id="28" name="Shape 22"/>
          <p:cNvSpPr/>
          <p:nvPr/>
        </p:nvSpPr>
        <p:spPr>
          <a:xfrm>
            <a:off x="6035040" y="3703320"/>
            <a:ext cx="2331720" cy="1691640"/>
          </a:xfrm>
          <a:prstGeom prst="roundRect">
            <a:avLst>
              <a:gd name="adj" fmla="val 4324"/>
            </a:avLst>
          </a:prstGeom>
          <a:solidFill>
            <a:srgbClr val="F4F9F8"/>
          </a:solidFill>
          <a:ln w="19050">
            <a:solidFill>
              <a:srgbClr val="00A896"/>
            </a:solidFill>
            <a:prstDash val="solid"/>
          </a:ln>
        </p:spPr>
      </p:sp>
      <p:sp>
        <p:nvSpPr>
          <p:cNvPr id="29" name="Shape 23"/>
          <p:cNvSpPr/>
          <p:nvPr/>
        </p:nvSpPr>
        <p:spPr>
          <a:xfrm>
            <a:off x="6035040" y="3703320"/>
            <a:ext cx="2331720" cy="457200"/>
          </a:xfrm>
          <a:prstGeom prst="roundRect">
            <a:avLst>
              <a:gd name="adj" fmla="val 16000"/>
            </a:avLst>
          </a:prstGeom>
          <a:solidFill>
            <a:srgbClr val="00A896"/>
          </a:solidFill>
          <a:ln/>
        </p:spPr>
      </p:sp>
      <p:sp>
        <p:nvSpPr>
          <p:cNvPr id="30" name="Shape 24"/>
          <p:cNvSpPr/>
          <p:nvPr/>
        </p:nvSpPr>
        <p:spPr>
          <a:xfrm>
            <a:off x="6035040" y="3931920"/>
            <a:ext cx="2331720" cy="228600"/>
          </a:xfrm>
          <a:prstGeom prst="rect">
            <a:avLst/>
          </a:prstGeom>
          <a:solidFill>
            <a:srgbClr val="00A896"/>
          </a:solidFill>
          <a:ln/>
        </p:spPr>
      </p:sp>
      <p:pic>
        <p:nvPicPr>
          <p:cNvPr id="31" name="Image 4" descr="icon_repayment.png">    </p:cNvPr>
          <p:cNvPicPr>
            <a:picLocks noChangeAspect="1"/>
          </p:cNvPicPr>
          <p:nvPr/>
        </p:nvPicPr>
        <p:blipFill>
          <a:blip r:embed="rId5"/>
          <a:stretch>
            <a:fillRect/>
          </a:stretch>
        </p:blipFill>
        <p:spPr>
          <a:xfrm>
            <a:off x="6144768" y="3794760"/>
            <a:ext cx="274320" cy="274320"/>
          </a:xfrm>
          <a:prstGeom prst="rect">
            <a:avLst/>
          </a:prstGeom>
        </p:spPr>
      </p:pic>
      <p:sp>
        <p:nvSpPr>
          <p:cNvPr id="32" name="Text 25"/>
          <p:cNvSpPr/>
          <p:nvPr/>
        </p:nvSpPr>
        <p:spPr>
          <a:xfrm>
            <a:off x="6492240" y="3703320"/>
            <a:ext cx="178308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REPAYMENT</a:t>
            </a:r>
            <a:endParaRPr lang="en-US" sz="1300" dirty="0"/>
          </a:p>
        </p:txBody>
      </p:sp>
      <p:sp>
        <p:nvSpPr>
          <p:cNvPr id="33" name="Text 26"/>
          <p:cNvSpPr/>
          <p:nvPr/>
        </p:nvSpPr>
        <p:spPr>
          <a:xfrm>
            <a:off x="6172200" y="4233672"/>
            <a:ext cx="2057400" cy="1069848"/>
          </a:xfrm>
          <a:prstGeom prst="rect">
            <a:avLst/>
          </a:prstGeom>
          <a:noFill/>
          <a:ln/>
        </p:spPr>
        <p:txBody>
          <a:bodyPr wrap="square" rtlCol="0" anchor="t"/>
          <a:lstStyle/>
          <a:p>
            <a:pPr marL="127000" indent="-127000">
              <a:lnSpc>
                <a:spcPct val="120000"/>
              </a:lnSpc>
              <a:buSzPct val="100000"/>
              <a:buChar char="•"/>
            </a:pPr>
            <a:r>
              <a:rPr lang="en-US" sz="1050" dirty="0">
                <a:solidFill>
                  <a:srgbClr val="1B2B2E"/>
                </a:solidFill>
                <a:latin typeface="Calibri" pitchFamily="34" charset="0"/>
                <a:ea typeface="Calibri" pitchFamily="34" charset="-122"/>
                <a:cs typeface="Calibri" pitchFamily="34" charset="-120"/>
              </a:rPr>
              <a:t>repayment_id (PK)</a:t>
            </a:r>
            <a:endParaRPr lang="en-US" sz="1050" dirty="0"/>
          </a:p>
          <a:p>
            <a:pPr marL="127000" indent="-127000">
              <a:lnSpc>
                <a:spcPct val="120000"/>
              </a:lnSpc>
              <a:buSzPct val="100000"/>
              <a:buChar char="•"/>
            </a:pPr>
            <a:r>
              <a:rPr lang="en-US" sz="1050" dirty="0">
                <a:solidFill>
                  <a:srgbClr val="1B2B2E"/>
                </a:solidFill>
                <a:latin typeface="Calibri" pitchFamily="34" charset="0"/>
                <a:ea typeface="Calibri" pitchFamily="34" charset="-122"/>
                <a:cs typeface="Calibri" pitchFamily="34" charset="-120"/>
              </a:rPr>
              <a:t>loan_id (FK)</a:t>
            </a:r>
            <a:endParaRPr lang="en-US" sz="1050" dirty="0"/>
          </a:p>
          <a:p>
            <a:pPr marL="127000" indent="-127000">
              <a:lnSpc>
                <a:spcPct val="120000"/>
              </a:lnSpc>
              <a:buSzPct val="100000"/>
              <a:buChar char="•"/>
            </a:pPr>
            <a:r>
              <a:rPr lang="en-US" sz="1050" dirty="0">
                <a:solidFill>
                  <a:srgbClr val="1B2B2E"/>
                </a:solidFill>
                <a:latin typeface="Calibri" pitchFamily="34" charset="0"/>
                <a:ea typeface="Calibri" pitchFamily="34" charset="-122"/>
                <a:cs typeface="Calibri" pitchFamily="34" charset="-120"/>
              </a:rPr>
              <a:t>amount, date, balance</a:t>
            </a:r>
            <a:endParaRPr lang="en-US" sz="1050" dirty="0"/>
          </a:p>
        </p:txBody>
      </p:sp>
      <p:sp>
        <p:nvSpPr>
          <p:cNvPr id="34" name="Shape 27"/>
          <p:cNvSpPr/>
          <p:nvPr/>
        </p:nvSpPr>
        <p:spPr>
          <a:xfrm>
            <a:off x="8823960" y="2651760"/>
            <a:ext cx="2331720" cy="1691640"/>
          </a:xfrm>
          <a:prstGeom prst="roundRect">
            <a:avLst>
              <a:gd name="adj" fmla="val 4324"/>
            </a:avLst>
          </a:prstGeom>
          <a:solidFill>
            <a:srgbClr val="F4F9F8"/>
          </a:solidFill>
          <a:ln w="19050">
            <a:solidFill>
              <a:srgbClr val="02C39A"/>
            </a:solidFill>
            <a:prstDash val="solid"/>
          </a:ln>
        </p:spPr>
      </p:sp>
      <p:sp>
        <p:nvSpPr>
          <p:cNvPr id="35" name="Shape 28"/>
          <p:cNvSpPr/>
          <p:nvPr/>
        </p:nvSpPr>
        <p:spPr>
          <a:xfrm>
            <a:off x="8823960" y="2651760"/>
            <a:ext cx="2331720" cy="457200"/>
          </a:xfrm>
          <a:prstGeom prst="roundRect">
            <a:avLst>
              <a:gd name="adj" fmla="val 16000"/>
            </a:avLst>
          </a:prstGeom>
          <a:solidFill>
            <a:srgbClr val="02C39A"/>
          </a:solidFill>
          <a:ln/>
        </p:spPr>
      </p:sp>
      <p:sp>
        <p:nvSpPr>
          <p:cNvPr id="36" name="Shape 29"/>
          <p:cNvSpPr/>
          <p:nvPr/>
        </p:nvSpPr>
        <p:spPr>
          <a:xfrm>
            <a:off x="8823960" y="2880360"/>
            <a:ext cx="2331720" cy="228600"/>
          </a:xfrm>
          <a:prstGeom prst="rect">
            <a:avLst/>
          </a:prstGeom>
          <a:solidFill>
            <a:srgbClr val="02C39A"/>
          </a:solidFill>
          <a:ln/>
        </p:spPr>
      </p:sp>
      <p:pic>
        <p:nvPicPr>
          <p:cNvPr id="37" name="Image 5" descr="icon_moneycheck.png">    </p:cNvPr>
          <p:cNvPicPr>
            <a:picLocks noChangeAspect="1"/>
          </p:cNvPicPr>
          <p:nvPr/>
        </p:nvPicPr>
        <p:blipFill>
          <a:blip r:embed="rId6"/>
          <a:stretch>
            <a:fillRect/>
          </a:stretch>
        </p:blipFill>
        <p:spPr>
          <a:xfrm>
            <a:off x="8933688" y="2743200"/>
            <a:ext cx="274320" cy="274320"/>
          </a:xfrm>
          <a:prstGeom prst="rect">
            <a:avLst/>
          </a:prstGeom>
        </p:spPr>
      </p:pic>
      <p:sp>
        <p:nvSpPr>
          <p:cNvPr id="38" name="Text 30"/>
          <p:cNvSpPr/>
          <p:nvPr/>
        </p:nvSpPr>
        <p:spPr>
          <a:xfrm>
            <a:off x="9281160" y="2651760"/>
            <a:ext cx="178308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TRANSACTION LOG</a:t>
            </a:r>
            <a:endParaRPr lang="en-US" sz="1300" dirty="0"/>
          </a:p>
        </p:txBody>
      </p:sp>
      <p:sp>
        <p:nvSpPr>
          <p:cNvPr id="39" name="Text 31"/>
          <p:cNvSpPr/>
          <p:nvPr/>
        </p:nvSpPr>
        <p:spPr>
          <a:xfrm>
            <a:off x="8961120" y="3182112"/>
            <a:ext cx="2057400" cy="1069848"/>
          </a:xfrm>
          <a:prstGeom prst="rect">
            <a:avLst/>
          </a:prstGeom>
          <a:noFill/>
          <a:ln/>
        </p:spPr>
        <p:txBody>
          <a:bodyPr wrap="square" rtlCol="0" anchor="t"/>
          <a:lstStyle/>
          <a:p>
            <a:pPr marL="127000" indent="-127000">
              <a:lnSpc>
                <a:spcPct val="120000"/>
              </a:lnSpc>
              <a:buSzPct val="100000"/>
              <a:buChar char="•"/>
            </a:pPr>
            <a:r>
              <a:rPr lang="en-US" sz="1050" dirty="0">
                <a:solidFill>
                  <a:srgbClr val="1B2B2E"/>
                </a:solidFill>
                <a:latin typeface="Calibri" pitchFamily="34" charset="0"/>
                <a:ea typeface="Calibri" pitchFamily="34" charset="-122"/>
                <a:cs typeface="Calibri" pitchFamily="34" charset="-120"/>
              </a:rPr>
              <a:t>log_id (PK)</a:t>
            </a:r>
            <a:endParaRPr lang="en-US" sz="1050" dirty="0"/>
          </a:p>
          <a:p>
            <a:pPr marL="127000" indent="-127000">
              <a:lnSpc>
                <a:spcPct val="120000"/>
              </a:lnSpc>
              <a:buSzPct val="100000"/>
              <a:buChar char="•"/>
            </a:pPr>
            <a:r>
              <a:rPr lang="en-US" sz="1050" dirty="0">
                <a:solidFill>
                  <a:srgbClr val="1B2B2E"/>
                </a:solidFill>
                <a:latin typeface="Calibri" pitchFamily="34" charset="0"/>
                <a:ea typeface="Calibri" pitchFamily="34" charset="-122"/>
                <a:cs typeface="Calibri" pitchFamily="34" charset="-120"/>
              </a:rPr>
              <a:t>repayment_id (FK)</a:t>
            </a:r>
            <a:endParaRPr lang="en-US" sz="1050" dirty="0"/>
          </a:p>
          <a:p>
            <a:pPr marL="127000" indent="-127000">
              <a:lnSpc>
                <a:spcPct val="120000"/>
              </a:lnSpc>
              <a:buSzPct val="100000"/>
              <a:buChar char="•"/>
            </a:pPr>
            <a:r>
              <a:rPr lang="en-US" sz="1050" dirty="0">
                <a:solidFill>
                  <a:srgbClr val="1B2B2E"/>
                </a:solidFill>
                <a:latin typeface="Calibri" pitchFamily="34" charset="0"/>
                <a:ea typeface="Calibri" pitchFamily="34" charset="-122"/>
                <a:cs typeface="Calibri" pitchFamily="34" charset="-120"/>
              </a:rPr>
              <a:t>timestamp, channel</a:t>
            </a:r>
            <a:endParaRPr lang="en-US" sz="1050" dirty="0"/>
          </a:p>
        </p:txBody>
      </p:sp>
      <p:sp>
        <p:nvSpPr>
          <p:cNvPr id="40" name="Shape 32"/>
          <p:cNvSpPr/>
          <p:nvPr/>
        </p:nvSpPr>
        <p:spPr>
          <a:xfrm>
            <a:off x="2788920" y="2441448"/>
            <a:ext cx="457200" cy="621792"/>
          </a:xfrm>
          <a:prstGeom prst="line">
            <a:avLst/>
          </a:prstGeom>
          <a:noFill/>
          <a:ln w="19050">
            <a:solidFill>
              <a:srgbClr val="5C7A7D"/>
            </a:solidFill>
            <a:prstDash val="solid"/>
          </a:ln>
        </p:spPr>
      </p:sp>
      <p:sp>
        <p:nvSpPr>
          <p:cNvPr id="41" name="Shape 33"/>
          <p:cNvSpPr/>
          <p:nvPr/>
        </p:nvSpPr>
        <p:spPr>
          <a:xfrm flipV="1">
            <a:off x="2788920" y="4087368"/>
            <a:ext cx="457200" cy="457200"/>
          </a:xfrm>
          <a:prstGeom prst="line">
            <a:avLst/>
          </a:prstGeom>
          <a:noFill/>
          <a:ln w="19050">
            <a:solidFill>
              <a:srgbClr val="5C7A7D"/>
            </a:solidFill>
            <a:prstDash val="solid"/>
          </a:ln>
        </p:spPr>
      </p:sp>
      <p:sp>
        <p:nvSpPr>
          <p:cNvPr id="42" name="Shape 34"/>
          <p:cNvSpPr/>
          <p:nvPr/>
        </p:nvSpPr>
        <p:spPr>
          <a:xfrm flipV="1">
            <a:off x="5577840" y="2441448"/>
            <a:ext cx="457200" cy="621792"/>
          </a:xfrm>
          <a:prstGeom prst="line">
            <a:avLst/>
          </a:prstGeom>
          <a:noFill/>
          <a:ln w="19050">
            <a:solidFill>
              <a:srgbClr val="5C7A7D"/>
            </a:solidFill>
            <a:prstDash val="solid"/>
          </a:ln>
        </p:spPr>
      </p:sp>
      <p:sp>
        <p:nvSpPr>
          <p:cNvPr id="43" name="Shape 35"/>
          <p:cNvSpPr/>
          <p:nvPr/>
        </p:nvSpPr>
        <p:spPr>
          <a:xfrm>
            <a:off x="5577840" y="4087368"/>
            <a:ext cx="457200" cy="457200"/>
          </a:xfrm>
          <a:prstGeom prst="line">
            <a:avLst/>
          </a:prstGeom>
          <a:noFill/>
          <a:ln w="19050">
            <a:solidFill>
              <a:srgbClr val="5C7A7D"/>
            </a:solidFill>
            <a:prstDash val="solid"/>
          </a:ln>
        </p:spPr>
      </p:sp>
      <p:sp>
        <p:nvSpPr>
          <p:cNvPr id="44" name="Shape 36"/>
          <p:cNvSpPr/>
          <p:nvPr/>
        </p:nvSpPr>
        <p:spPr>
          <a:xfrm>
            <a:off x="8366760" y="2441448"/>
            <a:ext cx="457200" cy="621792"/>
          </a:xfrm>
          <a:prstGeom prst="line">
            <a:avLst/>
          </a:prstGeom>
          <a:noFill/>
          <a:ln w="19050">
            <a:solidFill>
              <a:srgbClr val="5C7A7D"/>
            </a:solidFill>
            <a:prstDash val="solid"/>
          </a:ln>
        </p:spPr>
      </p:sp>
      <p:sp>
        <p:nvSpPr>
          <p:cNvPr id="45" name="Shape 37"/>
          <p:cNvSpPr/>
          <p:nvPr/>
        </p:nvSpPr>
        <p:spPr>
          <a:xfrm flipV="1">
            <a:off x="8366760" y="4087368"/>
            <a:ext cx="457200" cy="457200"/>
          </a:xfrm>
          <a:prstGeom prst="line">
            <a:avLst/>
          </a:prstGeom>
          <a:noFill/>
          <a:ln w="19050">
            <a:solidFill>
              <a:srgbClr val="5C7A7D"/>
            </a:solidFill>
            <a:prstDash val="solid"/>
          </a:ln>
        </p:spPr>
      </p:sp>
      <p:sp>
        <p:nvSpPr>
          <p:cNvPr id="46" name="Text 38"/>
          <p:cNvSpPr/>
          <p:nvPr/>
        </p:nvSpPr>
        <p:spPr>
          <a:xfrm>
            <a:off x="457200" y="5623560"/>
            <a:ext cx="11292840" cy="365760"/>
          </a:xfrm>
          <a:prstGeom prst="rect">
            <a:avLst/>
          </a:prstGeom>
          <a:noFill/>
          <a:ln/>
        </p:spPr>
        <p:txBody>
          <a:bodyPr wrap="square" rtlCol="0" anchor="ctr"/>
          <a:lstStyle/>
          <a:p>
            <a:pPr algn="ctr" indent="0" marL="0">
              <a:buNone/>
            </a:pPr>
            <a:r>
              <a:rPr lang="en-US" sz="1150" i="1" dirty="0">
                <a:solidFill>
                  <a:srgbClr val="5C7A7D"/>
                </a:solidFill>
                <a:latin typeface="Calibri" pitchFamily="34" charset="0"/>
                <a:ea typeface="Calibri" pitchFamily="34" charset="-122"/>
                <a:cs typeface="Calibri" pitchFamily="34" charset="-120"/>
              </a:rPr>
              <a:t>1 branch → many officers → many clients → many loans → many repayments → logged transactions</a:t>
            </a:r>
            <a:endParaRPr lang="en-US" sz="1150" dirty="0"/>
          </a:p>
        </p:txBody>
      </p:sp>
      <p:sp>
        <p:nvSpPr>
          <p:cNvPr id="47" name="Text 39"/>
          <p:cNvSpPr/>
          <p:nvPr/>
        </p:nvSpPr>
        <p:spPr>
          <a:xfrm>
            <a:off x="457200" y="6035040"/>
            <a:ext cx="11292840" cy="365760"/>
          </a:xfrm>
          <a:prstGeom prst="rect">
            <a:avLst/>
          </a:prstGeom>
          <a:noFill/>
          <a:ln/>
        </p:spPr>
        <p:txBody>
          <a:bodyPr wrap="square" rtlCol="0" anchor="ctr"/>
          <a:lstStyle/>
          <a:p>
            <a:pPr algn="ctr" indent="0" marL="0">
              <a:buNone/>
            </a:pPr>
            <a:r>
              <a:rPr lang="en-US" sz="1150" b="1" dirty="0">
                <a:solidFill>
                  <a:srgbClr val="1B2B2E"/>
                </a:solidFill>
                <a:latin typeface="Calibri" pitchFamily="34" charset="0"/>
                <a:ea typeface="Calibri" pitchFamily="34" charset="-122"/>
                <a:cs typeface="Calibri" pitchFamily="34" charset="-120"/>
              </a:rPr>
              <a:t>Normalized to 3NF to eliminate redundancy and preserve referential integrity via primary/foreign key constraints.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9F8"/>
        </a:solidFill>
      </p:bgPr>
    </p:bg>
    <p:spTree>
      <p:nvGrpSpPr>
        <p:cNvPr id="1" name=""/>
        <p:cNvGrpSpPr/>
        <p:nvPr/>
      </p:nvGrpSpPr>
      <p:grpSpPr>
        <a:xfrm>
          <a:off x="0" y="0"/>
          <a:ext cx="0" cy="0"/>
          <a:chOff x="0" y="0"/>
          <a:chExt cx="0" cy="0"/>
        </a:xfrm>
      </p:grpSpPr>
      <p:sp>
        <p:nvSpPr>
          <p:cNvPr id="2" name="Text 0"/>
          <p:cNvSpPr/>
          <p:nvPr/>
        </p:nvSpPr>
        <p:spPr>
          <a:xfrm>
            <a:off x="548640" y="457200"/>
            <a:ext cx="7315200" cy="548640"/>
          </a:xfrm>
          <a:prstGeom prst="rect">
            <a:avLst/>
          </a:prstGeom>
          <a:noFill/>
          <a:ln/>
        </p:spPr>
        <p:txBody>
          <a:bodyPr wrap="square" rtlCol="0" anchor="ctr"/>
          <a:lstStyle/>
          <a:p>
            <a:pPr indent="0" marL="0">
              <a:buNone/>
            </a:pPr>
            <a:r>
              <a:rPr lang="en-US" sz="3200" b="1" dirty="0">
                <a:solidFill>
                  <a:srgbClr val="1B2B2E"/>
                </a:solidFill>
                <a:latin typeface="Cambria" pitchFamily="34" charset="0"/>
                <a:ea typeface="Cambria" pitchFamily="34" charset="-122"/>
                <a:cs typeface="Cambria" pitchFamily="34" charset="-120"/>
              </a:rPr>
              <a:t>Implementation</a:t>
            </a:r>
            <a:endParaRPr lang="en-US" sz="3200" dirty="0"/>
          </a:p>
        </p:txBody>
      </p:sp>
      <p:sp>
        <p:nvSpPr>
          <p:cNvPr id="3" name="Text 1"/>
          <p:cNvSpPr/>
          <p:nvPr/>
        </p:nvSpPr>
        <p:spPr>
          <a:xfrm>
            <a:off x="548640" y="1024128"/>
            <a:ext cx="8229600" cy="365760"/>
          </a:xfrm>
          <a:prstGeom prst="rect">
            <a:avLst/>
          </a:prstGeom>
          <a:noFill/>
          <a:ln/>
        </p:spPr>
        <p:txBody>
          <a:bodyPr wrap="square" rtlCol="0" anchor="ctr"/>
          <a:lstStyle/>
          <a:p>
            <a:pPr indent="0" marL="0">
              <a:buNone/>
            </a:pPr>
            <a:r>
              <a:rPr lang="en-US" sz="1400" i="1" dirty="0">
                <a:solidFill>
                  <a:srgbClr val="5C7A7D"/>
                </a:solidFill>
                <a:latin typeface="Calibri" pitchFamily="34" charset="0"/>
                <a:ea typeface="Calibri" pitchFamily="34" charset="-122"/>
                <a:cs typeface="Calibri" pitchFamily="34" charset="-120"/>
              </a:rPr>
              <a:t>Technology stack and key system modules</a:t>
            </a:r>
            <a:endParaRPr lang="en-US" sz="1400" dirty="0"/>
          </a:p>
        </p:txBody>
      </p:sp>
      <p:sp>
        <p:nvSpPr>
          <p:cNvPr id="4" name="Shape 2"/>
          <p:cNvSpPr/>
          <p:nvPr/>
        </p:nvSpPr>
        <p:spPr>
          <a:xfrm>
            <a:off x="548640" y="1691640"/>
            <a:ext cx="2606040" cy="1600200"/>
          </a:xfrm>
          <a:prstGeom prst="roundRect">
            <a:avLst>
              <a:gd name="adj" fmla="val 5714"/>
            </a:avLst>
          </a:prstGeom>
          <a:solidFill>
            <a:srgbClr val="FFFFFF"/>
          </a:solidFill>
          <a:ln w="12700">
            <a:solidFill>
              <a:srgbClr val="DCE9E8"/>
            </a:solidFill>
            <a:prstDash val="solid"/>
          </a:ln>
          <a:effectLst>
            <a:outerShdw sx="100000" sy="100000" kx="0" ky="0" algn="bl" rotWithShape="0" blurRad="76200" dist="25400" dir="5400000">
              <a:srgbClr val="1B2B2E">
                <a:alpha val="12000"/>
              </a:srgbClr>
            </a:outerShdw>
          </a:effectLst>
        </p:spPr>
      </p:sp>
      <p:sp>
        <p:nvSpPr>
          <p:cNvPr id="5" name="Shape 3"/>
          <p:cNvSpPr/>
          <p:nvPr/>
        </p:nvSpPr>
        <p:spPr>
          <a:xfrm>
            <a:off x="1531620" y="1874520"/>
            <a:ext cx="640080" cy="640080"/>
          </a:xfrm>
          <a:prstGeom prst="ellipse">
            <a:avLst/>
          </a:prstGeom>
          <a:solidFill>
            <a:srgbClr val="028090"/>
          </a:solidFill>
          <a:ln/>
        </p:spPr>
      </p:sp>
      <p:pic>
        <p:nvPicPr>
          <p:cNvPr id="6" name="Image 0" descr="icon_database.png">    </p:cNvPr>
          <p:cNvPicPr>
            <a:picLocks noChangeAspect="1"/>
          </p:cNvPicPr>
          <p:nvPr/>
        </p:nvPicPr>
        <p:blipFill>
          <a:blip r:embed="rId1"/>
          <a:stretch>
            <a:fillRect/>
          </a:stretch>
        </p:blipFill>
        <p:spPr>
          <a:xfrm>
            <a:off x="1698041" y="2040941"/>
            <a:ext cx="307238" cy="307238"/>
          </a:xfrm>
          <a:prstGeom prst="rect">
            <a:avLst/>
          </a:prstGeom>
        </p:spPr>
      </p:pic>
      <p:sp>
        <p:nvSpPr>
          <p:cNvPr id="7" name="Text 4"/>
          <p:cNvSpPr/>
          <p:nvPr/>
        </p:nvSpPr>
        <p:spPr>
          <a:xfrm>
            <a:off x="640080" y="2606040"/>
            <a:ext cx="2423160" cy="365760"/>
          </a:xfrm>
          <a:prstGeom prst="rect">
            <a:avLst/>
          </a:prstGeom>
          <a:noFill/>
          <a:ln/>
        </p:spPr>
        <p:txBody>
          <a:bodyPr wrap="square" rtlCol="0" anchor="ctr"/>
          <a:lstStyle/>
          <a:p>
            <a:pPr algn="ctr" indent="0" marL="0">
              <a:buNone/>
            </a:pPr>
            <a:r>
              <a:rPr lang="en-US" sz="1250" b="1" dirty="0">
                <a:solidFill>
                  <a:srgbClr val="1B2B2E"/>
                </a:solidFill>
                <a:latin typeface="Calibri" pitchFamily="34" charset="0"/>
                <a:ea typeface="Calibri" pitchFamily="34" charset="-122"/>
                <a:cs typeface="Calibri" pitchFamily="34" charset="-120"/>
              </a:rPr>
              <a:t>MySQL / PostgreSQL</a:t>
            </a:r>
            <a:endParaRPr lang="en-US" sz="1250" dirty="0"/>
          </a:p>
        </p:txBody>
      </p:sp>
      <p:sp>
        <p:nvSpPr>
          <p:cNvPr id="8" name="Text 5"/>
          <p:cNvSpPr/>
          <p:nvPr/>
        </p:nvSpPr>
        <p:spPr>
          <a:xfrm>
            <a:off x="640080" y="2944368"/>
            <a:ext cx="2423160" cy="320040"/>
          </a:xfrm>
          <a:prstGeom prst="rect">
            <a:avLst/>
          </a:prstGeom>
          <a:noFill/>
          <a:ln/>
        </p:spPr>
        <p:txBody>
          <a:bodyPr wrap="square" rtlCol="0" anchor="ctr"/>
          <a:lstStyle/>
          <a:p>
            <a:pPr algn="ctr" indent="0" marL="0">
              <a:buNone/>
            </a:pPr>
            <a:r>
              <a:rPr lang="en-US" sz="1050" dirty="0">
                <a:solidFill>
                  <a:srgbClr val="5C7A7D"/>
                </a:solidFill>
                <a:latin typeface="Calibri" pitchFamily="34" charset="0"/>
                <a:ea typeface="Calibri" pitchFamily="34" charset="-122"/>
                <a:cs typeface="Calibri" pitchFamily="34" charset="-120"/>
              </a:rPr>
              <a:t>Relational DBMS engine</a:t>
            </a:r>
            <a:endParaRPr lang="en-US" sz="1050" dirty="0"/>
          </a:p>
        </p:txBody>
      </p:sp>
      <p:sp>
        <p:nvSpPr>
          <p:cNvPr id="9" name="Shape 6"/>
          <p:cNvSpPr/>
          <p:nvPr/>
        </p:nvSpPr>
        <p:spPr>
          <a:xfrm>
            <a:off x="3383280" y="1691640"/>
            <a:ext cx="2606040" cy="1600200"/>
          </a:xfrm>
          <a:prstGeom prst="roundRect">
            <a:avLst>
              <a:gd name="adj" fmla="val 5714"/>
            </a:avLst>
          </a:prstGeom>
          <a:solidFill>
            <a:srgbClr val="FFFFFF"/>
          </a:solidFill>
          <a:ln w="12700">
            <a:solidFill>
              <a:srgbClr val="DCE9E8"/>
            </a:solidFill>
            <a:prstDash val="solid"/>
          </a:ln>
          <a:effectLst>
            <a:outerShdw sx="100000" sy="100000" kx="0" ky="0" algn="bl" rotWithShape="0" blurRad="76200" dist="25400" dir="5400000">
              <a:srgbClr val="1B2B2E">
                <a:alpha val="12000"/>
              </a:srgbClr>
            </a:outerShdw>
          </a:effectLst>
        </p:spPr>
      </p:sp>
      <p:sp>
        <p:nvSpPr>
          <p:cNvPr id="10" name="Shape 7"/>
          <p:cNvSpPr/>
          <p:nvPr/>
        </p:nvSpPr>
        <p:spPr>
          <a:xfrm>
            <a:off x="4366260" y="1874520"/>
            <a:ext cx="640080" cy="640080"/>
          </a:xfrm>
          <a:prstGeom prst="ellipse">
            <a:avLst/>
          </a:prstGeom>
          <a:solidFill>
            <a:srgbClr val="028090"/>
          </a:solidFill>
          <a:ln/>
        </p:spPr>
      </p:sp>
      <p:pic>
        <p:nvPicPr>
          <p:cNvPr id="11" name="Image 1" descr="icon_server.png">    </p:cNvPr>
          <p:cNvPicPr>
            <a:picLocks noChangeAspect="1"/>
          </p:cNvPicPr>
          <p:nvPr/>
        </p:nvPicPr>
        <p:blipFill>
          <a:blip r:embed="rId2"/>
          <a:stretch>
            <a:fillRect/>
          </a:stretch>
        </p:blipFill>
        <p:spPr>
          <a:xfrm>
            <a:off x="4532681" y="2040941"/>
            <a:ext cx="307238" cy="307238"/>
          </a:xfrm>
          <a:prstGeom prst="rect">
            <a:avLst/>
          </a:prstGeom>
        </p:spPr>
      </p:pic>
      <p:sp>
        <p:nvSpPr>
          <p:cNvPr id="12" name="Text 8"/>
          <p:cNvSpPr/>
          <p:nvPr/>
        </p:nvSpPr>
        <p:spPr>
          <a:xfrm>
            <a:off x="3474720" y="2606040"/>
            <a:ext cx="2423160" cy="365760"/>
          </a:xfrm>
          <a:prstGeom prst="rect">
            <a:avLst/>
          </a:prstGeom>
          <a:noFill/>
          <a:ln/>
        </p:spPr>
        <p:txBody>
          <a:bodyPr wrap="square" rtlCol="0" anchor="ctr"/>
          <a:lstStyle/>
          <a:p>
            <a:pPr algn="ctr" indent="0" marL="0">
              <a:buNone/>
            </a:pPr>
            <a:r>
              <a:rPr lang="en-US" sz="1250" b="1" dirty="0">
                <a:solidFill>
                  <a:srgbClr val="1B2B2E"/>
                </a:solidFill>
                <a:latin typeface="Calibri" pitchFamily="34" charset="0"/>
                <a:ea typeface="Calibri" pitchFamily="34" charset="-122"/>
                <a:cs typeface="Calibri" pitchFamily="34" charset="-120"/>
              </a:rPr>
              <a:t>PHP / Java (Spring)</a:t>
            </a:r>
            <a:endParaRPr lang="en-US" sz="1250" dirty="0"/>
          </a:p>
        </p:txBody>
      </p:sp>
      <p:sp>
        <p:nvSpPr>
          <p:cNvPr id="13" name="Text 9"/>
          <p:cNvSpPr/>
          <p:nvPr/>
        </p:nvSpPr>
        <p:spPr>
          <a:xfrm>
            <a:off x="3474720" y="2944368"/>
            <a:ext cx="2423160" cy="320040"/>
          </a:xfrm>
          <a:prstGeom prst="rect">
            <a:avLst/>
          </a:prstGeom>
          <a:noFill/>
          <a:ln/>
        </p:spPr>
        <p:txBody>
          <a:bodyPr wrap="square" rtlCol="0" anchor="ctr"/>
          <a:lstStyle/>
          <a:p>
            <a:pPr algn="ctr" indent="0" marL="0">
              <a:buNone/>
            </a:pPr>
            <a:r>
              <a:rPr lang="en-US" sz="1050" dirty="0">
                <a:solidFill>
                  <a:srgbClr val="5C7A7D"/>
                </a:solidFill>
                <a:latin typeface="Calibri" pitchFamily="34" charset="0"/>
                <a:ea typeface="Calibri" pitchFamily="34" charset="-122"/>
                <a:cs typeface="Calibri" pitchFamily="34" charset="-120"/>
              </a:rPr>
              <a:t>Backend application logic</a:t>
            </a:r>
            <a:endParaRPr lang="en-US" sz="1050" dirty="0"/>
          </a:p>
        </p:txBody>
      </p:sp>
      <p:sp>
        <p:nvSpPr>
          <p:cNvPr id="14" name="Shape 10"/>
          <p:cNvSpPr/>
          <p:nvPr/>
        </p:nvSpPr>
        <p:spPr>
          <a:xfrm>
            <a:off x="6217920" y="1691640"/>
            <a:ext cx="2606040" cy="1600200"/>
          </a:xfrm>
          <a:prstGeom prst="roundRect">
            <a:avLst>
              <a:gd name="adj" fmla="val 5714"/>
            </a:avLst>
          </a:prstGeom>
          <a:solidFill>
            <a:srgbClr val="FFFFFF"/>
          </a:solidFill>
          <a:ln w="12700">
            <a:solidFill>
              <a:srgbClr val="DCE9E8"/>
            </a:solidFill>
            <a:prstDash val="solid"/>
          </a:ln>
          <a:effectLst>
            <a:outerShdw sx="100000" sy="100000" kx="0" ky="0" algn="bl" rotWithShape="0" blurRad="76200" dist="25400" dir="5400000">
              <a:srgbClr val="1B2B2E">
                <a:alpha val="12000"/>
              </a:srgbClr>
            </a:outerShdw>
          </a:effectLst>
        </p:spPr>
      </p:sp>
      <p:sp>
        <p:nvSpPr>
          <p:cNvPr id="15" name="Shape 11"/>
          <p:cNvSpPr/>
          <p:nvPr/>
        </p:nvSpPr>
        <p:spPr>
          <a:xfrm>
            <a:off x="7200900" y="1874520"/>
            <a:ext cx="640080" cy="640080"/>
          </a:xfrm>
          <a:prstGeom prst="ellipse">
            <a:avLst/>
          </a:prstGeom>
          <a:solidFill>
            <a:srgbClr val="028090"/>
          </a:solidFill>
          <a:ln/>
        </p:spPr>
      </p:sp>
      <p:pic>
        <p:nvPicPr>
          <p:cNvPr id="16" name="Image 2" descr="icon_mobile.png">    </p:cNvPr>
          <p:cNvPicPr>
            <a:picLocks noChangeAspect="1"/>
          </p:cNvPicPr>
          <p:nvPr/>
        </p:nvPicPr>
        <p:blipFill>
          <a:blip r:embed="rId3"/>
          <a:stretch>
            <a:fillRect/>
          </a:stretch>
        </p:blipFill>
        <p:spPr>
          <a:xfrm>
            <a:off x="7367321" y="2040941"/>
            <a:ext cx="307238" cy="307238"/>
          </a:xfrm>
          <a:prstGeom prst="rect">
            <a:avLst/>
          </a:prstGeom>
        </p:spPr>
      </p:pic>
      <p:sp>
        <p:nvSpPr>
          <p:cNvPr id="17" name="Text 12"/>
          <p:cNvSpPr/>
          <p:nvPr/>
        </p:nvSpPr>
        <p:spPr>
          <a:xfrm>
            <a:off x="6309360" y="2606040"/>
            <a:ext cx="2423160" cy="365760"/>
          </a:xfrm>
          <a:prstGeom prst="rect">
            <a:avLst/>
          </a:prstGeom>
          <a:noFill/>
          <a:ln/>
        </p:spPr>
        <p:txBody>
          <a:bodyPr wrap="square" rtlCol="0" anchor="ctr"/>
          <a:lstStyle/>
          <a:p>
            <a:pPr algn="ctr" indent="0" marL="0">
              <a:buNone/>
            </a:pPr>
            <a:r>
              <a:rPr lang="en-US" sz="1250" b="1" dirty="0">
                <a:solidFill>
                  <a:srgbClr val="1B2B2E"/>
                </a:solidFill>
                <a:latin typeface="Calibri" pitchFamily="34" charset="0"/>
                <a:ea typeface="Calibri" pitchFamily="34" charset="-122"/>
                <a:cs typeface="Calibri" pitchFamily="34" charset="-120"/>
              </a:rPr>
              <a:t>Responsive Web UI</a:t>
            </a:r>
            <a:endParaRPr lang="en-US" sz="1250" dirty="0"/>
          </a:p>
        </p:txBody>
      </p:sp>
      <p:sp>
        <p:nvSpPr>
          <p:cNvPr id="18" name="Text 13"/>
          <p:cNvSpPr/>
          <p:nvPr/>
        </p:nvSpPr>
        <p:spPr>
          <a:xfrm>
            <a:off x="6309360" y="2944368"/>
            <a:ext cx="2423160" cy="320040"/>
          </a:xfrm>
          <a:prstGeom prst="rect">
            <a:avLst/>
          </a:prstGeom>
          <a:noFill/>
          <a:ln/>
        </p:spPr>
        <p:txBody>
          <a:bodyPr wrap="square" rtlCol="0" anchor="ctr"/>
          <a:lstStyle/>
          <a:p>
            <a:pPr algn="ctr" indent="0" marL="0">
              <a:buNone/>
            </a:pPr>
            <a:r>
              <a:rPr lang="en-US" sz="1050" dirty="0">
                <a:solidFill>
                  <a:srgbClr val="5C7A7D"/>
                </a:solidFill>
                <a:latin typeface="Calibri" pitchFamily="34" charset="0"/>
                <a:ea typeface="Calibri" pitchFamily="34" charset="-122"/>
                <a:cs typeface="Calibri" pitchFamily="34" charset="-120"/>
              </a:rPr>
              <a:t>Officer &amp; client-facing forms</a:t>
            </a:r>
            <a:endParaRPr lang="en-US" sz="1050" dirty="0"/>
          </a:p>
        </p:txBody>
      </p:sp>
      <p:sp>
        <p:nvSpPr>
          <p:cNvPr id="19" name="Shape 14"/>
          <p:cNvSpPr/>
          <p:nvPr/>
        </p:nvSpPr>
        <p:spPr>
          <a:xfrm>
            <a:off x="9052560" y="1691640"/>
            <a:ext cx="2606040" cy="1600200"/>
          </a:xfrm>
          <a:prstGeom prst="roundRect">
            <a:avLst>
              <a:gd name="adj" fmla="val 5714"/>
            </a:avLst>
          </a:prstGeom>
          <a:solidFill>
            <a:srgbClr val="FFFFFF"/>
          </a:solidFill>
          <a:ln w="12700">
            <a:solidFill>
              <a:srgbClr val="DCE9E8"/>
            </a:solidFill>
            <a:prstDash val="solid"/>
          </a:ln>
          <a:effectLst>
            <a:outerShdw sx="100000" sy="100000" kx="0" ky="0" algn="bl" rotWithShape="0" blurRad="76200" dist="25400" dir="5400000">
              <a:srgbClr val="1B2B2E">
                <a:alpha val="12000"/>
              </a:srgbClr>
            </a:outerShdw>
          </a:effectLst>
        </p:spPr>
      </p:sp>
      <p:sp>
        <p:nvSpPr>
          <p:cNvPr id="20" name="Shape 15"/>
          <p:cNvSpPr/>
          <p:nvPr/>
        </p:nvSpPr>
        <p:spPr>
          <a:xfrm>
            <a:off x="10035540" y="1874520"/>
            <a:ext cx="640080" cy="640080"/>
          </a:xfrm>
          <a:prstGeom prst="ellipse">
            <a:avLst/>
          </a:prstGeom>
          <a:solidFill>
            <a:srgbClr val="028090"/>
          </a:solidFill>
          <a:ln/>
        </p:spPr>
      </p:sp>
      <p:pic>
        <p:nvPicPr>
          <p:cNvPr id="21" name="Image 3" descr="icon_lock.png">    </p:cNvPr>
          <p:cNvPicPr>
            <a:picLocks noChangeAspect="1"/>
          </p:cNvPicPr>
          <p:nvPr/>
        </p:nvPicPr>
        <p:blipFill>
          <a:blip r:embed="rId4"/>
          <a:stretch>
            <a:fillRect/>
          </a:stretch>
        </p:blipFill>
        <p:spPr>
          <a:xfrm>
            <a:off x="10201961" y="2040941"/>
            <a:ext cx="307238" cy="307238"/>
          </a:xfrm>
          <a:prstGeom prst="rect">
            <a:avLst/>
          </a:prstGeom>
        </p:spPr>
      </p:pic>
      <p:sp>
        <p:nvSpPr>
          <p:cNvPr id="22" name="Text 16"/>
          <p:cNvSpPr/>
          <p:nvPr/>
        </p:nvSpPr>
        <p:spPr>
          <a:xfrm>
            <a:off x="9144000" y="2606040"/>
            <a:ext cx="2423160" cy="365760"/>
          </a:xfrm>
          <a:prstGeom prst="rect">
            <a:avLst/>
          </a:prstGeom>
          <a:noFill/>
          <a:ln/>
        </p:spPr>
        <p:txBody>
          <a:bodyPr wrap="square" rtlCol="0" anchor="ctr"/>
          <a:lstStyle/>
          <a:p>
            <a:pPr algn="ctr" indent="0" marL="0">
              <a:buNone/>
            </a:pPr>
            <a:r>
              <a:rPr lang="en-US" sz="1250" b="1" dirty="0">
                <a:solidFill>
                  <a:srgbClr val="1B2B2E"/>
                </a:solidFill>
                <a:latin typeface="Calibri" pitchFamily="34" charset="0"/>
                <a:ea typeface="Calibri" pitchFamily="34" charset="-122"/>
                <a:cs typeface="Calibri" pitchFamily="34" charset="-120"/>
              </a:rPr>
              <a:t>Role-based Access</a:t>
            </a:r>
            <a:endParaRPr lang="en-US" sz="1250" dirty="0"/>
          </a:p>
        </p:txBody>
      </p:sp>
      <p:sp>
        <p:nvSpPr>
          <p:cNvPr id="23" name="Text 17"/>
          <p:cNvSpPr/>
          <p:nvPr/>
        </p:nvSpPr>
        <p:spPr>
          <a:xfrm>
            <a:off x="9144000" y="2944368"/>
            <a:ext cx="2423160" cy="320040"/>
          </a:xfrm>
          <a:prstGeom prst="rect">
            <a:avLst/>
          </a:prstGeom>
          <a:noFill/>
          <a:ln/>
        </p:spPr>
        <p:txBody>
          <a:bodyPr wrap="square" rtlCol="0" anchor="ctr"/>
          <a:lstStyle/>
          <a:p>
            <a:pPr algn="ctr" indent="0" marL="0">
              <a:buNone/>
            </a:pPr>
            <a:r>
              <a:rPr lang="en-US" sz="1050" dirty="0">
                <a:solidFill>
                  <a:srgbClr val="5C7A7D"/>
                </a:solidFill>
                <a:latin typeface="Calibri" pitchFamily="34" charset="0"/>
                <a:ea typeface="Calibri" pitchFamily="34" charset="-122"/>
                <a:cs typeface="Calibri" pitchFamily="34" charset="-120"/>
              </a:rPr>
              <a:t>Admin, officer, auditor roles</a:t>
            </a:r>
            <a:endParaRPr lang="en-US" sz="1050" dirty="0"/>
          </a:p>
        </p:txBody>
      </p:sp>
      <p:sp>
        <p:nvSpPr>
          <p:cNvPr id="24" name="Text 18"/>
          <p:cNvSpPr/>
          <p:nvPr/>
        </p:nvSpPr>
        <p:spPr>
          <a:xfrm>
            <a:off x="548640" y="3657600"/>
            <a:ext cx="5303520" cy="32004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KEY MODULES</a:t>
            </a:r>
            <a:endParaRPr lang="en-US" sz="1200" dirty="0"/>
          </a:p>
        </p:txBody>
      </p:sp>
      <p:sp>
        <p:nvSpPr>
          <p:cNvPr id="25" name="Shape 19"/>
          <p:cNvSpPr/>
          <p:nvPr/>
        </p:nvSpPr>
        <p:spPr>
          <a:xfrm>
            <a:off x="548640" y="4078224"/>
            <a:ext cx="128016" cy="128016"/>
          </a:xfrm>
          <a:prstGeom prst="ellipse">
            <a:avLst/>
          </a:prstGeom>
          <a:solidFill>
            <a:srgbClr val="02C39A"/>
          </a:solidFill>
          <a:ln/>
        </p:spPr>
      </p:sp>
      <p:sp>
        <p:nvSpPr>
          <p:cNvPr id="26" name="Text 20"/>
          <p:cNvSpPr/>
          <p:nvPr/>
        </p:nvSpPr>
        <p:spPr>
          <a:xfrm>
            <a:off x="822960" y="3968496"/>
            <a:ext cx="5120640" cy="548640"/>
          </a:xfrm>
          <a:prstGeom prst="rect">
            <a:avLst/>
          </a:prstGeom>
          <a:noFill/>
          <a:ln/>
        </p:spPr>
        <p:txBody>
          <a:bodyPr wrap="square" rtlCol="0" anchor="t"/>
          <a:lstStyle/>
          <a:p>
            <a:pPr indent="0" marL="0">
              <a:lnSpc>
                <a:spcPct val="115000"/>
              </a:lnSpc>
              <a:buNone/>
            </a:pPr>
            <a:r>
              <a:rPr lang="en-US" sz="1250" dirty="0">
                <a:solidFill>
                  <a:srgbClr val="1B2B2E"/>
                </a:solidFill>
                <a:latin typeface="Calibri" pitchFamily="34" charset="0"/>
                <a:ea typeface="Calibri" pitchFamily="34" charset="-122"/>
                <a:cs typeface="Calibri" pitchFamily="34" charset="-120"/>
              </a:rPr>
              <a:t>Client registration &amp; KYC capture</a:t>
            </a:r>
            <a:endParaRPr lang="en-US" sz="1250" dirty="0"/>
          </a:p>
        </p:txBody>
      </p:sp>
      <p:sp>
        <p:nvSpPr>
          <p:cNvPr id="27" name="Shape 21"/>
          <p:cNvSpPr/>
          <p:nvPr/>
        </p:nvSpPr>
        <p:spPr>
          <a:xfrm>
            <a:off x="6217920" y="4078224"/>
            <a:ext cx="128016" cy="128016"/>
          </a:xfrm>
          <a:prstGeom prst="ellipse">
            <a:avLst/>
          </a:prstGeom>
          <a:solidFill>
            <a:srgbClr val="02C39A"/>
          </a:solidFill>
          <a:ln/>
        </p:spPr>
      </p:sp>
      <p:sp>
        <p:nvSpPr>
          <p:cNvPr id="28" name="Text 22"/>
          <p:cNvSpPr/>
          <p:nvPr/>
        </p:nvSpPr>
        <p:spPr>
          <a:xfrm>
            <a:off x="6492240" y="3968496"/>
            <a:ext cx="5120640" cy="548640"/>
          </a:xfrm>
          <a:prstGeom prst="rect">
            <a:avLst/>
          </a:prstGeom>
          <a:noFill/>
          <a:ln/>
        </p:spPr>
        <p:txBody>
          <a:bodyPr wrap="square" rtlCol="0" anchor="t"/>
          <a:lstStyle/>
          <a:p>
            <a:pPr indent="0" marL="0">
              <a:lnSpc>
                <a:spcPct val="115000"/>
              </a:lnSpc>
              <a:buNone/>
            </a:pPr>
            <a:r>
              <a:rPr lang="en-US" sz="1250" dirty="0">
                <a:solidFill>
                  <a:srgbClr val="1B2B2E"/>
                </a:solidFill>
                <a:latin typeface="Calibri" pitchFamily="34" charset="0"/>
                <a:ea typeface="Calibri" pitchFamily="34" charset="-122"/>
                <a:cs typeface="Calibri" pitchFamily="34" charset="-120"/>
              </a:rPr>
              <a:t>Loan application, approval &amp; disbursement workflow</a:t>
            </a:r>
            <a:endParaRPr lang="en-US" sz="1250" dirty="0"/>
          </a:p>
        </p:txBody>
      </p:sp>
      <p:sp>
        <p:nvSpPr>
          <p:cNvPr id="29" name="Shape 23"/>
          <p:cNvSpPr/>
          <p:nvPr/>
        </p:nvSpPr>
        <p:spPr>
          <a:xfrm>
            <a:off x="548640" y="4736592"/>
            <a:ext cx="128016" cy="128016"/>
          </a:xfrm>
          <a:prstGeom prst="ellipse">
            <a:avLst/>
          </a:prstGeom>
          <a:solidFill>
            <a:srgbClr val="02C39A"/>
          </a:solidFill>
          <a:ln/>
        </p:spPr>
      </p:sp>
      <p:sp>
        <p:nvSpPr>
          <p:cNvPr id="30" name="Text 24"/>
          <p:cNvSpPr/>
          <p:nvPr/>
        </p:nvSpPr>
        <p:spPr>
          <a:xfrm>
            <a:off x="822960" y="4626864"/>
            <a:ext cx="5120640" cy="548640"/>
          </a:xfrm>
          <a:prstGeom prst="rect">
            <a:avLst/>
          </a:prstGeom>
          <a:noFill/>
          <a:ln/>
        </p:spPr>
        <p:txBody>
          <a:bodyPr wrap="square" rtlCol="0" anchor="t"/>
          <a:lstStyle/>
          <a:p>
            <a:pPr indent="0" marL="0">
              <a:lnSpc>
                <a:spcPct val="115000"/>
              </a:lnSpc>
              <a:buNone/>
            </a:pPr>
            <a:r>
              <a:rPr lang="en-US" sz="1250" dirty="0">
                <a:solidFill>
                  <a:srgbClr val="1B2B2E"/>
                </a:solidFill>
                <a:latin typeface="Calibri" pitchFamily="34" charset="0"/>
                <a:ea typeface="Calibri" pitchFamily="34" charset="-122"/>
                <a:cs typeface="Calibri" pitchFamily="34" charset="-120"/>
              </a:rPr>
              <a:t>Automated repayment scheduling &amp; interest calculation</a:t>
            </a:r>
            <a:endParaRPr lang="en-US" sz="1250" dirty="0"/>
          </a:p>
        </p:txBody>
      </p:sp>
      <p:sp>
        <p:nvSpPr>
          <p:cNvPr id="31" name="Shape 25"/>
          <p:cNvSpPr/>
          <p:nvPr/>
        </p:nvSpPr>
        <p:spPr>
          <a:xfrm>
            <a:off x="6217920" y="4736592"/>
            <a:ext cx="128016" cy="128016"/>
          </a:xfrm>
          <a:prstGeom prst="ellipse">
            <a:avLst/>
          </a:prstGeom>
          <a:solidFill>
            <a:srgbClr val="02C39A"/>
          </a:solidFill>
          <a:ln/>
        </p:spPr>
      </p:sp>
      <p:sp>
        <p:nvSpPr>
          <p:cNvPr id="32" name="Text 26"/>
          <p:cNvSpPr/>
          <p:nvPr/>
        </p:nvSpPr>
        <p:spPr>
          <a:xfrm>
            <a:off x="6492240" y="4626864"/>
            <a:ext cx="5120640" cy="548640"/>
          </a:xfrm>
          <a:prstGeom prst="rect">
            <a:avLst/>
          </a:prstGeom>
          <a:noFill/>
          <a:ln/>
        </p:spPr>
        <p:txBody>
          <a:bodyPr wrap="square" rtlCol="0" anchor="t"/>
          <a:lstStyle/>
          <a:p>
            <a:pPr indent="0" marL="0">
              <a:lnSpc>
                <a:spcPct val="115000"/>
              </a:lnSpc>
              <a:buNone/>
            </a:pPr>
            <a:r>
              <a:rPr lang="en-US" sz="1250" dirty="0">
                <a:solidFill>
                  <a:srgbClr val="1B2B2E"/>
                </a:solidFill>
                <a:latin typeface="Calibri" pitchFamily="34" charset="0"/>
                <a:ea typeface="Calibri" pitchFamily="34" charset="-122"/>
                <a:cs typeface="Calibri" pitchFamily="34" charset="-120"/>
              </a:rPr>
              <a:t>Real-time balance &amp; arrears tracking</a:t>
            </a:r>
            <a:endParaRPr lang="en-US" sz="1250" dirty="0"/>
          </a:p>
        </p:txBody>
      </p:sp>
      <p:sp>
        <p:nvSpPr>
          <p:cNvPr id="33" name="Shape 27"/>
          <p:cNvSpPr/>
          <p:nvPr/>
        </p:nvSpPr>
        <p:spPr>
          <a:xfrm>
            <a:off x="548640" y="5394960"/>
            <a:ext cx="128016" cy="128016"/>
          </a:xfrm>
          <a:prstGeom prst="ellipse">
            <a:avLst/>
          </a:prstGeom>
          <a:solidFill>
            <a:srgbClr val="02C39A"/>
          </a:solidFill>
          <a:ln/>
        </p:spPr>
      </p:sp>
      <p:sp>
        <p:nvSpPr>
          <p:cNvPr id="34" name="Text 28"/>
          <p:cNvSpPr/>
          <p:nvPr/>
        </p:nvSpPr>
        <p:spPr>
          <a:xfrm>
            <a:off x="822960" y="5285232"/>
            <a:ext cx="5120640" cy="548640"/>
          </a:xfrm>
          <a:prstGeom prst="rect">
            <a:avLst/>
          </a:prstGeom>
          <a:noFill/>
          <a:ln/>
        </p:spPr>
        <p:txBody>
          <a:bodyPr wrap="square" rtlCol="0" anchor="t"/>
          <a:lstStyle/>
          <a:p>
            <a:pPr indent="0" marL="0">
              <a:lnSpc>
                <a:spcPct val="115000"/>
              </a:lnSpc>
              <a:buNone/>
            </a:pPr>
            <a:r>
              <a:rPr lang="en-US" sz="1250" dirty="0">
                <a:solidFill>
                  <a:srgbClr val="1B2B2E"/>
                </a:solidFill>
                <a:latin typeface="Calibri" pitchFamily="34" charset="0"/>
                <a:ea typeface="Calibri" pitchFamily="34" charset="-122"/>
                <a:cs typeface="Calibri" pitchFamily="34" charset="-120"/>
              </a:rPr>
              <a:t>Portfolio-at-risk (PAR) &amp; branch performance reports</a:t>
            </a:r>
            <a:endParaRPr lang="en-US" sz="1250" dirty="0"/>
          </a:p>
        </p:txBody>
      </p:sp>
      <p:sp>
        <p:nvSpPr>
          <p:cNvPr id="35" name="Shape 29"/>
          <p:cNvSpPr/>
          <p:nvPr/>
        </p:nvSpPr>
        <p:spPr>
          <a:xfrm>
            <a:off x="6217920" y="5394960"/>
            <a:ext cx="128016" cy="128016"/>
          </a:xfrm>
          <a:prstGeom prst="ellipse">
            <a:avLst/>
          </a:prstGeom>
          <a:solidFill>
            <a:srgbClr val="02C39A"/>
          </a:solidFill>
          <a:ln/>
        </p:spPr>
      </p:sp>
      <p:sp>
        <p:nvSpPr>
          <p:cNvPr id="36" name="Text 30"/>
          <p:cNvSpPr/>
          <p:nvPr/>
        </p:nvSpPr>
        <p:spPr>
          <a:xfrm>
            <a:off x="6492240" y="5285232"/>
            <a:ext cx="5120640" cy="548640"/>
          </a:xfrm>
          <a:prstGeom prst="rect">
            <a:avLst/>
          </a:prstGeom>
          <a:noFill/>
          <a:ln/>
        </p:spPr>
        <p:txBody>
          <a:bodyPr wrap="square" rtlCol="0" anchor="t"/>
          <a:lstStyle/>
          <a:p>
            <a:pPr indent="0" marL="0">
              <a:lnSpc>
                <a:spcPct val="115000"/>
              </a:lnSpc>
              <a:buNone/>
            </a:pPr>
            <a:r>
              <a:rPr lang="en-US" sz="1250" dirty="0">
                <a:solidFill>
                  <a:srgbClr val="1B2B2E"/>
                </a:solidFill>
                <a:latin typeface="Calibri" pitchFamily="34" charset="0"/>
                <a:ea typeface="Calibri" pitchFamily="34" charset="-122"/>
                <a:cs typeface="Calibri" pitchFamily="34" charset="-120"/>
              </a:rPr>
              <a:t>Stored procedures &amp; triggers for data validation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13A40"/>
        </a:solidFill>
      </p:bgPr>
    </p:bg>
    <p:spTree>
      <p:nvGrpSpPr>
        <p:cNvPr id="1" name=""/>
        <p:cNvGrpSpPr/>
        <p:nvPr/>
      </p:nvGrpSpPr>
      <p:grpSpPr>
        <a:xfrm>
          <a:off x="0" y="0"/>
          <a:ext cx="0" cy="0"/>
          <a:chOff x="0" y="0"/>
          <a:chExt cx="0" cy="0"/>
        </a:xfrm>
      </p:grpSpPr>
      <p:sp>
        <p:nvSpPr>
          <p:cNvPr id="2" name="Shape 0"/>
          <p:cNvSpPr/>
          <p:nvPr/>
        </p:nvSpPr>
        <p:spPr>
          <a:xfrm>
            <a:off x="-1828800" y="-2011680"/>
            <a:ext cx="5486400" cy="5486400"/>
          </a:xfrm>
          <a:prstGeom prst="ellipse">
            <a:avLst/>
          </a:prstGeom>
          <a:solidFill>
            <a:srgbClr val="028090">
              <a:alpha val="45000"/>
            </a:srgbClr>
          </a:solidFill>
          <a:ln/>
        </p:spPr>
      </p:sp>
      <p:sp>
        <p:nvSpPr>
          <p:cNvPr id="3" name="Shape 1"/>
          <p:cNvSpPr/>
          <p:nvPr/>
        </p:nvSpPr>
        <p:spPr>
          <a:xfrm>
            <a:off x="9875520" y="4114800"/>
            <a:ext cx="4572000" cy="4572000"/>
          </a:xfrm>
          <a:prstGeom prst="ellipse">
            <a:avLst/>
          </a:prstGeom>
          <a:solidFill>
            <a:srgbClr val="00A896">
              <a:alpha val="35000"/>
            </a:srgbClr>
          </a:solidFill>
          <a:ln/>
        </p:spPr>
      </p:sp>
      <p:sp>
        <p:nvSpPr>
          <p:cNvPr id="4" name="Text 2"/>
          <p:cNvSpPr/>
          <p:nvPr/>
        </p:nvSpPr>
        <p:spPr>
          <a:xfrm>
            <a:off x="640080" y="502920"/>
            <a:ext cx="91440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Benefits &amp; Conclusion</a:t>
            </a:r>
            <a:endParaRPr lang="en-US" sz="3200" dirty="0"/>
          </a:p>
        </p:txBody>
      </p:sp>
      <p:sp>
        <p:nvSpPr>
          <p:cNvPr id="5" name="Text 3"/>
          <p:cNvSpPr/>
          <p:nvPr/>
        </p:nvSpPr>
        <p:spPr>
          <a:xfrm>
            <a:off x="640080" y="1097280"/>
            <a:ext cx="8229600" cy="365760"/>
          </a:xfrm>
          <a:prstGeom prst="rect">
            <a:avLst/>
          </a:prstGeom>
          <a:noFill/>
          <a:ln/>
        </p:spPr>
        <p:txBody>
          <a:bodyPr wrap="square" rtlCol="0" anchor="ctr"/>
          <a:lstStyle/>
          <a:p>
            <a:pPr indent="0" marL="0">
              <a:buNone/>
            </a:pPr>
            <a:r>
              <a:rPr lang="en-US" sz="1400" i="1" dirty="0">
                <a:solidFill>
                  <a:srgbClr val="02C39A"/>
                </a:solidFill>
                <a:latin typeface="Calibri" pitchFamily="34" charset="0"/>
                <a:ea typeface="Calibri" pitchFamily="34" charset="-122"/>
                <a:cs typeface="Calibri" pitchFamily="34" charset="-120"/>
              </a:rPr>
              <a:t>What the system delivers, and where it goes next</a:t>
            </a:r>
            <a:endParaRPr lang="en-US" sz="1400" dirty="0"/>
          </a:p>
        </p:txBody>
      </p:sp>
      <p:sp>
        <p:nvSpPr>
          <p:cNvPr id="6" name="Shape 4"/>
          <p:cNvSpPr/>
          <p:nvPr/>
        </p:nvSpPr>
        <p:spPr>
          <a:xfrm>
            <a:off x="640080" y="1874520"/>
            <a:ext cx="2606040" cy="2468880"/>
          </a:xfrm>
          <a:prstGeom prst="roundRect">
            <a:avLst>
              <a:gd name="adj" fmla="val 3704"/>
            </a:avLst>
          </a:prstGeom>
          <a:solidFill>
            <a:srgbClr val="07474F"/>
          </a:solidFill>
          <a:ln/>
        </p:spPr>
      </p:sp>
      <p:sp>
        <p:nvSpPr>
          <p:cNvPr id="7" name="Shape 5"/>
          <p:cNvSpPr/>
          <p:nvPr/>
        </p:nvSpPr>
        <p:spPr>
          <a:xfrm>
            <a:off x="1650492" y="2103120"/>
            <a:ext cx="585216" cy="585216"/>
          </a:xfrm>
          <a:prstGeom prst="ellipse">
            <a:avLst/>
          </a:prstGeom>
          <a:solidFill>
            <a:srgbClr val="00A896"/>
          </a:solidFill>
          <a:ln/>
        </p:spPr>
      </p:sp>
      <p:pic>
        <p:nvPicPr>
          <p:cNvPr id="8" name="Image 0" descr="icon_shield.png">    </p:cNvPr>
          <p:cNvPicPr>
            <a:picLocks noChangeAspect="1"/>
          </p:cNvPicPr>
          <p:nvPr/>
        </p:nvPicPr>
        <p:blipFill>
          <a:blip r:embed="rId1"/>
          <a:stretch>
            <a:fillRect/>
          </a:stretch>
        </p:blipFill>
        <p:spPr>
          <a:xfrm>
            <a:off x="1802648" y="2255276"/>
            <a:ext cx="280904" cy="280904"/>
          </a:xfrm>
          <a:prstGeom prst="rect">
            <a:avLst/>
          </a:prstGeom>
        </p:spPr>
      </p:pic>
      <p:sp>
        <p:nvSpPr>
          <p:cNvPr id="9" name="Text 6"/>
          <p:cNvSpPr/>
          <p:nvPr/>
        </p:nvSpPr>
        <p:spPr>
          <a:xfrm>
            <a:off x="777240" y="2834640"/>
            <a:ext cx="233172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Data Integrity</a:t>
            </a:r>
            <a:endParaRPr lang="en-US" sz="1300" dirty="0"/>
          </a:p>
        </p:txBody>
      </p:sp>
      <p:sp>
        <p:nvSpPr>
          <p:cNvPr id="10" name="Text 7"/>
          <p:cNvSpPr/>
          <p:nvPr/>
        </p:nvSpPr>
        <p:spPr>
          <a:xfrm>
            <a:off x="804672" y="3246120"/>
            <a:ext cx="2276856" cy="1005840"/>
          </a:xfrm>
          <a:prstGeom prst="rect">
            <a:avLst/>
          </a:prstGeom>
          <a:noFill/>
          <a:ln/>
        </p:spPr>
        <p:txBody>
          <a:bodyPr wrap="square" rtlCol="0" anchor="ctr"/>
          <a:lstStyle/>
          <a:p>
            <a:pPr algn="ctr" indent="0" marL="0">
              <a:lnSpc>
                <a:spcPct val="120000"/>
              </a:lnSpc>
              <a:buNone/>
            </a:pPr>
            <a:r>
              <a:rPr lang="en-US" sz="1050" dirty="0">
                <a:solidFill>
                  <a:srgbClr val="CFE8E6"/>
                </a:solidFill>
                <a:latin typeface="Calibri" pitchFamily="34" charset="0"/>
                <a:ea typeface="Calibri" pitchFamily="34" charset="-122"/>
                <a:cs typeface="Calibri" pitchFamily="34" charset="-120"/>
              </a:rPr>
              <a:t>Enforced keys and constraints eliminate duplicate or orphaned loan records.</a:t>
            </a:r>
            <a:endParaRPr lang="en-US" sz="1050" dirty="0"/>
          </a:p>
        </p:txBody>
      </p:sp>
      <p:sp>
        <p:nvSpPr>
          <p:cNvPr id="11" name="Shape 8"/>
          <p:cNvSpPr/>
          <p:nvPr/>
        </p:nvSpPr>
        <p:spPr>
          <a:xfrm>
            <a:off x="3447288" y="1874520"/>
            <a:ext cx="2606040" cy="2468880"/>
          </a:xfrm>
          <a:prstGeom prst="roundRect">
            <a:avLst>
              <a:gd name="adj" fmla="val 3704"/>
            </a:avLst>
          </a:prstGeom>
          <a:solidFill>
            <a:srgbClr val="07474F"/>
          </a:solidFill>
          <a:ln/>
        </p:spPr>
      </p:sp>
      <p:sp>
        <p:nvSpPr>
          <p:cNvPr id="12" name="Shape 9"/>
          <p:cNvSpPr/>
          <p:nvPr/>
        </p:nvSpPr>
        <p:spPr>
          <a:xfrm>
            <a:off x="4457700" y="2103120"/>
            <a:ext cx="585216" cy="585216"/>
          </a:xfrm>
          <a:prstGeom prst="ellipse">
            <a:avLst/>
          </a:prstGeom>
          <a:solidFill>
            <a:srgbClr val="00A896"/>
          </a:solidFill>
          <a:ln/>
        </p:spPr>
      </p:sp>
      <p:pic>
        <p:nvPicPr>
          <p:cNvPr id="13" name="Image 1" descr="icon_chart.png">    </p:cNvPr>
          <p:cNvPicPr>
            <a:picLocks noChangeAspect="1"/>
          </p:cNvPicPr>
          <p:nvPr/>
        </p:nvPicPr>
        <p:blipFill>
          <a:blip r:embed="rId2"/>
          <a:stretch>
            <a:fillRect/>
          </a:stretch>
        </p:blipFill>
        <p:spPr>
          <a:xfrm>
            <a:off x="4609856" y="2255276"/>
            <a:ext cx="280904" cy="280904"/>
          </a:xfrm>
          <a:prstGeom prst="rect">
            <a:avLst/>
          </a:prstGeom>
        </p:spPr>
      </p:pic>
      <p:sp>
        <p:nvSpPr>
          <p:cNvPr id="14" name="Text 10"/>
          <p:cNvSpPr/>
          <p:nvPr/>
        </p:nvSpPr>
        <p:spPr>
          <a:xfrm>
            <a:off x="3584448" y="2834640"/>
            <a:ext cx="233172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Faster Reporting</a:t>
            </a:r>
            <a:endParaRPr lang="en-US" sz="1300" dirty="0"/>
          </a:p>
        </p:txBody>
      </p:sp>
      <p:sp>
        <p:nvSpPr>
          <p:cNvPr id="15" name="Text 11"/>
          <p:cNvSpPr/>
          <p:nvPr/>
        </p:nvSpPr>
        <p:spPr>
          <a:xfrm>
            <a:off x="3611880" y="3246120"/>
            <a:ext cx="2276856" cy="1005840"/>
          </a:xfrm>
          <a:prstGeom prst="rect">
            <a:avLst/>
          </a:prstGeom>
          <a:noFill/>
          <a:ln/>
        </p:spPr>
        <p:txBody>
          <a:bodyPr wrap="square" rtlCol="0" anchor="ctr"/>
          <a:lstStyle/>
          <a:p>
            <a:pPr algn="ctr" indent="0" marL="0">
              <a:lnSpc>
                <a:spcPct val="120000"/>
              </a:lnSpc>
              <a:buNone/>
            </a:pPr>
            <a:r>
              <a:rPr lang="en-US" sz="1050" dirty="0">
                <a:solidFill>
                  <a:srgbClr val="CFE8E6"/>
                </a:solidFill>
                <a:latin typeface="Calibri" pitchFamily="34" charset="0"/>
                <a:ea typeface="Calibri" pitchFamily="34" charset="-122"/>
                <a:cs typeface="Calibri" pitchFamily="34" charset="-120"/>
              </a:rPr>
              <a:t>Instant portfolio-at-risk, arrears, and branch performance reports.</a:t>
            </a:r>
            <a:endParaRPr lang="en-US" sz="1050" dirty="0"/>
          </a:p>
        </p:txBody>
      </p:sp>
      <p:sp>
        <p:nvSpPr>
          <p:cNvPr id="16" name="Shape 12"/>
          <p:cNvSpPr/>
          <p:nvPr/>
        </p:nvSpPr>
        <p:spPr>
          <a:xfrm>
            <a:off x="6254496" y="1874520"/>
            <a:ext cx="2606040" cy="2468880"/>
          </a:xfrm>
          <a:prstGeom prst="roundRect">
            <a:avLst>
              <a:gd name="adj" fmla="val 3704"/>
            </a:avLst>
          </a:prstGeom>
          <a:solidFill>
            <a:srgbClr val="07474F"/>
          </a:solidFill>
          <a:ln/>
        </p:spPr>
      </p:sp>
      <p:sp>
        <p:nvSpPr>
          <p:cNvPr id="17" name="Shape 13"/>
          <p:cNvSpPr/>
          <p:nvPr/>
        </p:nvSpPr>
        <p:spPr>
          <a:xfrm>
            <a:off x="7264908" y="2103120"/>
            <a:ext cx="585216" cy="585216"/>
          </a:xfrm>
          <a:prstGeom prst="ellipse">
            <a:avLst/>
          </a:prstGeom>
          <a:solidFill>
            <a:srgbClr val="00A896"/>
          </a:solidFill>
          <a:ln/>
        </p:spPr>
      </p:sp>
      <p:pic>
        <p:nvPicPr>
          <p:cNvPr id="18" name="Image 2" descr="icon_repayment.png">    </p:cNvPr>
          <p:cNvPicPr>
            <a:picLocks noChangeAspect="1"/>
          </p:cNvPicPr>
          <p:nvPr/>
        </p:nvPicPr>
        <p:blipFill>
          <a:blip r:embed="rId3"/>
          <a:stretch>
            <a:fillRect/>
          </a:stretch>
        </p:blipFill>
        <p:spPr>
          <a:xfrm>
            <a:off x="7417064" y="2255276"/>
            <a:ext cx="280904" cy="280904"/>
          </a:xfrm>
          <a:prstGeom prst="rect">
            <a:avLst/>
          </a:prstGeom>
        </p:spPr>
      </p:pic>
      <p:sp>
        <p:nvSpPr>
          <p:cNvPr id="19" name="Text 14"/>
          <p:cNvSpPr/>
          <p:nvPr/>
        </p:nvSpPr>
        <p:spPr>
          <a:xfrm>
            <a:off x="6391656" y="2834640"/>
            <a:ext cx="233172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Accurate Repayments</a:t>
            </a:r>
            <a:endParaRPr lang="en-US" sz="1300" dirty="0"/>
          </a:p>
        </p:txBody>
      </p:sp>
      <p:sp>
        <p:nvSpPr>
          <p:cNvPr id="20" name="Text 15"/>
          <p:cNvSpPr/>
          <p:nvPr/>
        </p:nvSpPr>
        <p:spPr>
          <a:xfrm>
            <a:off x="6419088" y="3246120"/>
            <a:ext cx="2276856" cy="1005840"/>
          </a:xfrm>
          <a:prstGeom prst="rect">
            <a:avLst/>
          </a:prstGeom>
          <a:noFill/>
          <a:ln/>
        </p:spPr>
        <p:txBody>
          <a:bodyPr wrap="square" rtlCol="0" anchor="ctr"/>
          <a:lstStyle/>
          <a:p>
            <a:pPr algn="ctr" indent="0" marL="0">
              <a:lnSpc>
                <a:spcPct val="120000"/>
              </a:lnSpc>
              <a:buNone/>
            </a:pPr>
            <a:r>
              <a:rPr lang="en-US" sz="1050" dirty="0">
                <a:solidFill>
                  <a:srgbClr val="CFE8E6"/>
                </a:solidFill>
                <a:latin typeface="Calibri" pitchFamily="34" charset="0"/>
                <a:ea typeface="Calibri" pitchFamily="34" charset="-122"/>
                <a:cs typeface="Calibri" pitchFamily="34" charset="-120"/>
              </a:rPr>
              <a:t>Automated balance updates reduce reconciliation errors and disputes.</a:t>
            </a:r>
            <a:endParaRPr lang="en-US" sz="1050" dirty="0"/>
          </a:p>
        </p:txBody>
      </p:sp>
      <p:sp>
        <p:nvSpPr>
          <p:cNvPr id="21" name="Shape 16"/>
          <p:cNvSpPr/>
          <p:nvPr/>
        </p:nvSpPr>
        <p:spPr>
          <a:xfrm>
            <a:off x="9061704" y="1874520"/>
            <a:ext cx="2606040" cy="2468880"/>
          </a:xfrm>
          <a:prstGeom prst="roundRect">
            <a:avLst>
              <a:gd name="adj" fmla="val 3704"/>
            </a:avLst>
          </a:prstGeom>
          <a:solidFill>
            <a:srgbClr val="07474F"/>
          </a:solidFill>
          <a:ln/>
        </p:spPr>
      </p:sp>
      <p:sp>
        <p:nvSpPr>
          <p:cNvPr id="22" name="Shape 17"/>
          <p:cNvSpPr/>
          <p:nvPr/>
        </p:nvSpPr>
        <p:spPr>
          <a:xfrm>
            <a:off x="10072116" y="2103120"/>
            <a:ext cx="585216" cy="585216"/>
          </a:xfrm>
          <a:prstGeom prst="ellipse">
            <a:avLst/>
          </a:prstGeom>
          <a:solidFill>
            <a:srgbClr val="00A896"/>
          </a:solidFill>
          <a:ln/>
        </p:spPr>
      </p:sp>
      <p:pic>
        <p:nvPicPr>
          <p:cNvPr id="23" name="Image 3" descr="icon_cloud.png">    </p:cNvPr>
          <p:cNvPicPr>
            <a:picLocks noChangeAspect="1"/>
          </p:cNvPicPr>
          <p:nvPr/>
        </p:nvPicPr>
        <p:blipFill>
          <a:blip r:embed="rId4"/>
          <a:stretch>
            <a:fillRect/>
          </a:stretch>
        </p:blipFill>
        <p:spPr>
          <a:xfrm>
            <a:off x="10224272" y="2255276"/>
            <a:ext cx="280904" cy="280904"/>
          </a:xfrm>
          <a:prstGeom prst="rect">
            <a:avLst/>
          </a:prstGeom>
        </p:spPr>
      </p:pic>
      <p:sp>
        <p:nvSpPr>
          <p:cNvPr id="24" name="Text 18"/>
          <p:cNvSpPr/>
          <p:nvPr/>
        </p:nvSpPr>
        <p:spPr>
          <a:xfrm>
            <a:off x="9198864" y="2834640"/>
            <a:ext cx="233172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Scalable Growth</a:t>
            </a:r>
            <a:endParaRPr lang="en-US" sz="1300" dirty="0"/>
          </a:p>
        </p:txBody>
      </p:sp>
      <p:sp>
        <p:nvSpPr>
          <p:cNvPr id="25" name="Text 19"/>
          <p:cNvSpPr/>
          <p:nvPr/>
        </p:nvSpPr>
        <p:spPr>
          <a:xfrm>
            <a:off x="9226296" y="3246120"/>
            <a:ext cx="2276856" cy="1005840"/>
          </a:xfrm>
          <a:prstGeom prst="rect">
            <a:avLst/>
          </a:prstGeom>
          <a:noFill/>
          <a:ln/>
        </p:spPr>
        <p:txBody>
          <a:bodyPr wrap="square" rtlCol="0" anchor="ctr"/>
          <a:lstStyle/>
          <a:p>
            <a:pPr algn="ctr" indent="0" marL="0">
              <a:lnSpc>
                <a:spcPct val="120000"/>
              </a:lnSpc>
              <a:buNone/>
            </a:pPr>
            <a:r>
              <a:rPr lang="en-US" sz="1050" dirty="0">
                <a:solidFill>
                  <a:srgbClr val="CFE8E6"/>
                </a:solidFill>
                <a:latin typeface="Calibri" pitchFamily="34" charset="0"/>
                <a:ea typeface="Calibri" pitchFamily="34" charset="-122"/>
                <a:cs typeface="Calibri" pitchFamily="34" charset="-120"/>
              </a:rPr>
              <a:t>Schema supports new branches, products, and higher client volumes.</a:t>
            </a:r>
            <a:endParaRPr lang="en-US" sz="1050" dirty="0"/>
          </a:p>
        </p:txBody>
      </p:sp>
      <p:sp>
        <p:nvSpPr>
          <p:cNvPr id="26" name="Shape 20"/>
          <p:cNvSpPr/>
          <p:nvPr/>
        </p:nvSpPr>
        <p:spPr>
          <a:xfrm>
            <a:off x="640080" y="4709160"/>
            <a:ext cx="10881360" cy="0"/>
          </a:xfrm>
          <a:prstGeom prst="line">
            <a:avLst/>
          </a:prstGeom>
          <a:noFill/>
          <a:ln w="12700">
            <a:solidFill>
              <a:srgbClr val="028090"/>
            </a:solidFill>
            <a:prstDash val="solid"/>
          </a:ln>
        </p:spPr>
      </p:sp>
      <p:sp>
        <p:nvSpPr>
          <p:cNvPr id="27" name="Text 21"/>
          <p:cNvSpPr/>
          <p:nvPr/>
        </p:nvSpPr>
        <p:spPr>
          <a:xfrm>
            <a:off x="640080" y="4892040"/>
            <a:ext cx="3657600" cy="274320"/>
          </a:xfrm>
          <a:prstGeom prst="rect">
            <a:avLst/>
          </a:prstGeom>
          <a:noFill/>
          <a:ln/>
        </p:spPr>
        <p:txBody>
          <a:bodyPr wrap="square"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FUTURE WORK</a:t>
            </a:r>
            <a:endParaRPr lang="en-US" sz="1200" dirty="0"/>
          </a:p>
        </p:txBody>
      </p:sp>
      <p:sp>
        <p:nvSpPr>
          <p:cNvPr id="28" name="Text 22"/>
          <p:cNvSpPr/>
          <p:nvPr/>
        </p:nvSpPr>
        <p:spPr>
          <a:xfrm>
            <a:off x="640080" y="5212080"/>
            <a:ext cx="10515600" cy="1097280"/>
          </a:xfrm>
          <a:prstGeom prst="rect">
            <a:avLst/>
          </a:prstGeom>
          <a:noFill/>
          <a:ln/>
        </p:spPr>
        <p:txBody>
          <a:bodyPr wrap="square" rtlCol="0" anchor="ctr"/>
          <a:lstStyle/>
          <a:p>
            <a:pPr marL="342900" indent="-342900">
              <a:lnSpc>
                <a:spcPct val="130000"/>
              </a:lnSpc>
              <a:buSzPct val="100000"/>
              <a:buChar char="•"/>
            </a:pPr>
            <a:r>
              <a:rPr lang="en-US" sz="1300" dirty="0">
                <a:solidFill>
                  <a:srgbClr val="FFFFFF"/>
                </a:solidFill>
                <a:latin typeface="Calibri" pitchFamily="34" charset="0"/>
                <a:ea typeface="Calibri" pitchFamily="34" charset="-122"/>
                <a:cs typeface="Calibri" pitchFamily="34" charset="-120"/>
              </a:rPr>
              <a:t>Mobile money &amp; SMS payment integration</a:t>
            </a:r>
            <a:endParaRPr lang="en-US" sz="1300" dirty="0"/>
          </a:p>
          <a:p>
            <a:pPr marL="342900" indent="-342900">
              <a:lnSpc>
                <a:spcPct val="130000"/>
              </a:lnSpc>
              <a:buSzPct val="100000"/>
              <a:buChar char="•"/>
            </a:pPr>
            <a:r>
              <a:rPr lang="en-US" sz="1300" dirty="0">
                <a:solidFill>
                  <a:srgbClr val="FFFFFF"/>
                </a:solidFill>
                <a:latin typeface="Calibri" pitchFamily="34" charset="0"/>
                <a:ea typeface="Calibri" pitchFamily="34" charset="-122"/>
                <a:cs typeface="Calibri" pitchFamily="34" charset="-120"/>
              </a:rPr>
              <a:t>Predictive credit scoring using historical repayment data</a:t>
            </a:r>
            <a:endParaRPr lang="en-US" sz="1300" dirty="0"/>
          </a:p>
          <a:p>
            <a:pPr marL="342900" indent="-342900">
              <a:lnSpc>
                <a:spcPct val="130000"/>
              </a:lnSpc>
              <a:buSzPct val="100000"/>
              <a:buChar char="•"/>
            </a:pPr>
            <a:r>
              <a:rPr lang="en-US" sz="1300" dirty="0">
                <a:solidFill>
                  <a:srgbClr val="FFFFFF"/>
                </a:solidFill>
                <a:latin typeface="Calibri" pitchFamily="34" charset="0"/>
                <a:ea typeface="Calibri" pitchFamily="34" charset="-122"/>
                <a:cs typeface="Calibri" pitchFamily="34" charset="-120"/>
              </a:rPr>
              <a:t>Cloud deployment for multi-branch synchronization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2026-08-25T09:21:34Z</dcterms:created>
  <dcterms:modified xsi:type="dcterms:W3CDTF">2026-08-25T09:21:34Z</dcterms:modified>
</cp:coreProperties>
</file>