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4894e1a-de83-aed2-69a8-8306f52cc704}">
          <p14:sldIdLst>
            <p14:sldId id="256"/>
            <p14:sldId id="257"/>
          </p14:sldIdLst>
        </p14:section>
        <p14:section name="Database and Setup" id="{2ec17eb8-716b-27e1-0caa-4462dc279778}">
          <p14:sldIdLst>
            <p14:sldId id="258"/>
          </p14:sldIdLst>
        </p14:section>
        <p14:section name="Working Prototype" id="{3670b7f1-d672-e7c9-a94f-f38da033c991}">
          <p14:sldIdLst>
            <p14:sldId id="259"/>
            <p14:sldId id="260"/>
            <p14:sldId id="261"/>
          </p14:sldIdLst>
        </p14:section>
        <p14:section name="Results" id="{9d3dd665-2af9-e2fb-b42a-4493627aee41}">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[your name], and this is Presentation III of my DBMS course project. My project is a database management system for microfinance loan and repayment management. In Presentation I and II we covered the problem and the design. Today I will focus on the implementation, so I will show the working prototype, how it connects to MySQL, and the testing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design from the earlier presentations became a working prototype. The user opens a web page in the browser. The page is built with HTML and CSS. When the user does something, the request goes to a Flask application written in Python. Flask uses mysql-connector-python to talk to the MySQL database, which is called microfinance_db, and the data is stored in the tables. So there are four simple layers: front end, backend, connectivity and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database I actually implemented in MySQL. It is called microfinance_db and has six tables: branch, loan_officer, client, loan, repayment and transaction_log. Branch stores the branch locations, which are Hyderabad, Vijayawada and Warangal. Loan officers belong to branches and manage clients. Client stores the borrowers. Loan stores the loans given to clients, and repayment stores the repayments made against loans. Transaction_log keeps the transaction records. I have already loaded sample data into all of these tables. The client table is highlighted because the web prototype currently works on that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interface I built. At the top there is the header with the system name and the subtitle, Database Management System Prototype. Then there are status cards: Total Clients, Database showing MySQL, and System showing Connected. Below that is the Register New Client form with three fields: client name, contact number and ID number, and the Add Client button. Under the form is the client records table, which shows the data from MySQL, and every row has a Delete button. Here I will show the screenshot of the actual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INSERT operation step by step. The user types the client name, contact number and ID number and clicks Add Client. Flask receives this form data on the add_client route. First it finds the next client ID by taking the current maximum client ID and adding one, and if the table is empty it starts from 1001. Then it runs the INSERT query with the values from the form. After that, connection.commit() saves the change permanently in MySQL. The page then reloads and the new client appears in the table. The screenshot shows the Register New Client form where I enter these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VIEW and DELETE operations. For VIEW, when the page loads, Flask runs a SELECT query on the client table, gets all the records from MySQL and shows them in the Client Records table, as you can see in the screenshot. For DELETE, when I click the Delete button next to a client, Flask receives that client's ID through the delete_client route. It runs a DELETE query for that ID, then calls connection.commit() to save the change. The record disappears from the page and is also removed from MySQL. I will confirm this in the MySQL output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testing. I tested four cases. First, viewing existing clients: the records stored in MySQL were displayed correctly. Second, adding a new client: the client was inserted into the database and also appeared in the UI. Third, deleting a client: it disappeared from the UI and was removed from the database. Fourth, database verification: I ran SELECT star from client in MySQL and the output matched the changes I made in the interface. The screenshot on the right shows it. The first result has 4 clients, the second has 5 after I added a test client with ID 1005, and the third is back to 4 after I deleted it. All four tests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have successfully built a working DBMS prototype. The MySQL database is connected to a Flask web interface, and I can view, add and delete client records from the browser. Every change is saved in MySQL after the commit, and I verified this using SELECT queries. This shows that the front end, backend and database work together as one system. Thank you,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6766560" cy="24688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4F7F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80"/>
                </a:solidFill>
              </a:rPr>
              <a:t>Presentation III  |  Microfinance Loan &amp; Repayment Management System</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8AA4C2"/>
                </a:solidFill>
              </a:rPr>
              <a:t>Presentation III  |  Microfinance Loan &amp; Repayment Management System</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4C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77240"/>
            <a:ext cx="5486400" cy="320040"/>
          </a:xfrm>
          <a:prstGeom prst="rect">
            <a:avLst/>
          </a:prstGeom>
          <a:noFill/>
          <a:ln/>
        </p:spPr>
        <p:txBody>
          <a:bodyPr wrap="square" lIns="0" tIns="0" rIns="0" bIns="0" rtlCol="0" anchor="t"/>
          <a:lstStyle/>
          <a:p>
            <a:pPr indent="0" marL="0">
              <a:buNone/>
            </a:pPr>
            <a:r>
              <a:rPr lang="en-US" sz="1400" b="1" spc="400" kern="0" dirty="0">
                <a:solidFill>
                  <a:schemeClr val="accent2"/>
                </a:solidFill>
              </a:rPr>
              <a:t>DBMS COURSE PROJECT</a:t>
            </a:r>
            <a:endParaRPr lang="en-US" sz="1400" dirty="0"/>
          </a:p>
        </p:txBody>
      </p:sp>
      <p:sp>
        <p:nvSpPr>
          <p:cNvPr id="3" name="Text 0"/>
          <p:cNvSpPr/>
          <p:nvPr>
            <p:ph idx="100" type="title" hasCustomPrompt="1"/>
          </p:nvPr>
        </p:nvSpPr>
        <p:spPr>
          <a:xfrm>
            <a:off x="640080" y="1325880"/>
            <a:ext cx="6766560" cy="2468880"/>
          </a:xfrm>
          <a:prstGeom prst="rect">
            <a:avLst/>
          </a:prstGeom>
          <a:noFill/>
          <a:ln/>
        </p:spPr>
        <p:txBody>
          <a:bodyPr wrap="square" lIns="0" tIns="0" rIns="0" bIns="0" rtlCol="0" anchor="t"/>
          <a:lstStyle/>
          <a:p>
            <a:pPr algn="l" indent="0" marL="0">
              <a:buNone/>
            </a:pPr>
            <a:r>
              <a:rPr lang="en-US" sz="3400" b="1" dirty="0">
                <a:solidFill>
                  <a:schemeClr val="bg1"/>
                </a:solidFill>
              </a:rPr>
              <a:t>Design and Implementation of a Database Management System for Microfinance Loan and Repayment Management System</a:t>
            </a:r>
            <a:endParaRPr lang="en-US" sz="3400" dirty="0"/>
          </a:p>
        </p:txBody>
      </p:sp>
      <p:sp>
        <p:nvSpPr>
          <p:cNvPr id="4" name="Text 2"/>
          <p:cNvSpPr txBox="1"/>
          <p:nvPr/>
        </p:nvSpPr>
        <p:spPr>
          <a:xfrm>
            <a:off x="640080" y="4023360"/>
            <a:ext cx="6766560" cy="822960"/>
          </a:xfrm>
          <a:prstGeom prst="rect">
            <a:avLst/>
          </a:prstGeom>
          <a:noFill/>
          <a:ln/>
        </p:spPr>
        <p:txBody>
          <a:bodyPr wrap="square" lIns="0" tIns="0" rIns="0" bIns="0" rtlCol="0" anchor="t"/>
          <a:lstStyle/>
          <a:p>
            <a:pPr indent="0" marL="0">
              <a:buNone/>
            </a:pPr>
            <a:r>
              <a:rPr lang="en-US" sz="2200" dirty="0">
                <a:solidFill>
                  <a:schemeClr val="accent6"/>
                </a:solidFill>
              </a:rPr>
              <a:t>Presentation III – Implementation &amp; Working Prototype</a:t>
            </a:r>
            <a:endParaRPr lang="en-US" sz="2200" dirty="0"/>
          </a:p>
        </p:txBody>
      </p:sp>
      <p:sp>
        <p:nvSpPr>
          <p:cNvPr id="5" name="Text 3"/>
          <p:cNvSpPr txBox="1"/>
          <p:nvPr/>
        </p:nvSpPr>
        <p:spPr>
          <a:xfrm>
            <a:off x="640080" y="5806440"/>
            <a:ext cx="6766560" cy="365760"/>
          </a:xfrm>
          <a:prstGeom prst="rect">
            <a:avLst/>
          </a:prstGeom>
          <a:noFill/>
          <a:ln/>
        </p:spPr>
        <p:txBody>
          <a:bodyPr wrap="square" lIns="0" tIns="0" rIns="0" bIns="0" rtlCol="0" anchor="t"/>
          <a:lstStyle/>
          <a:p>
            <a:pPr indent="0" marL="0">
              <a:buNone/>
            </a:pPr>
            <a:r>
              <a:rPr lang="en-US" sz="1400" dirty="0">
                <a:solidFill>
                  <a:schemeClr val="accent6"/>
                </a:solidFill>
              </a:rPr>
              <a:t>MySQL 8.0   |   Python   |   Flask   |   HTML + CSS</a:t>
            </a:r>
            <a:endParaRPr lang="en-US" sz="1400" dirty="0"/>
          </a:p>
        </p:txBody>
      </p:sp>
      <p:sp>
        <p:nvSpPr>
          <p:cNvPr id="6" name="Details panel"/>
          <p:cNvSpPr/>
          <p:nvPr/>
        </p:nvSpPr>
        <p:spPr>
          <a:xfrm>
            <a:off x="7863840" y="822960"/>
            <a:ext cx="3776472" cy="5166360"/>
          </a:xfrm>
          <a:prstGeom prst="roundRect">
            <a:avLst>
              <a:gd name="adj" fmla="val 3632"/>
            </a:avLst>
          </a:prstGeom>
          <a:solidFill>
            <a:schemeClr val="tx2"/>
          </a:solidFill>
          <a:ln w="12700">
            <a:solidFill>
              <a:schemeClr val="tx2"/>
            </a:solidFill>
            <a:prstDash val="solid"/>
          </a:ln>
        </p:spPr>
      </p:sp>
      <p:sp>
        <p:nvSpPr>
          <p:cNvPr id="7" name="Icon circle"/>
          <p:cNvSpPr/>
          <p:nvPr/>
        </p:nvSpPr>
        <p:spPr>
          <a:xfrm>
            <a:off x="8183880" y="1097280"/>
            <a:ext cx="822960" cy="822960"/>
          </a:xfrm>
          <a:prstGeom prst="ellipse">
            <a:avLst/>
          </a:prstGeom>
          <a:solidFill>
            <a:schemeClr val="accent1"/>
          </a:solidFill>
          <a:ln w="12700">
            <a:solidFill>
              <a:schemeClr val="accent1"/>
            </a:solidFill>
            <a:prstDash val="solid"/>
          </a:ln>
        </p:spPr>
      </p:sp>
      <p:pic>
        <p:nvPicPr>
          <p:cNvPr id="8" name="Image 0" descr="Database icon">    </p:cNvPr>
          <p:cNvPicPr>
            <a:picLocks noChangeAspect="1"/>
          </p:cNvPicPr>
          <p:nvPr/>
        </p:nvPicPr>
        <p:blipFill>
          <a:blip r:embed="rId1"/>
          <a:stretch>
            <a:fillRect/>
          </a:stretch>
        </p:blipFill>
        <p:spPr>
          <a:xfrm>
            <a:off x="8397850" y="1311250"/>
            <a:ext cx="395021" cy="395021"/>
          </a:xfrm>
          <a:prstGeom prst="rect">
            <a:avLst/>
          </a:prstGeom>
        </p:spPr>
      </p:pic>
      <p:sp>
        <p:nvSpPr>
          <p:cNvPr id="9" name="Text 6"/>
          <p:cNvSpPr txBox="1"/>
          <p:nvPr/>
        </p:nvSpPr>
        <p:spPr>
          <a:xfrm>
            <a:off x="8183880" y="2194560"/>
            <a:ext cx="3200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STUDENT NAME</a:t>
            </a:r>
            <a:endParaRPr lang="en-US" sz="1100" dirty="0"/>
          </a:p>
        </p:txBody>
      </p:sp>
      <p:sp>
        <p:nvSpPr>
          <p:cNvPr id="10" name="Text 7"/>
          <p:cNvSpPr txBox="1"/>
          <p:nvPr/>
        </p:nvSpPr>
        <p:spPr>
          <a:xfrm>
            <a:off x="8183880" y="2441448"/>
            <a:ext cx="3200400" cy="365760"/>
          </a:xfrm>
          <a:prstGeom prst="rect">
            <a:avLst/>
          </a:prstGeom>
          <a:noFill/>
          <a:ln/>
        </p:spPr>
        <p:txBody>
          <a:bodyPr wrap="square" lIns="0" tIns="0" rIns="0" bIns="0" rtlCol="0" anchor="t"/>
          <a:lstStyle/>
          <a:p>
            <a:pPr indent="0" marL="0">
              <a:buNone/>
            </a:pPr>
            <a:r>
              <a:rPr lang="en-US" sz="1800" b="1" dirty="0">
                <a:solidFill>
                  <a:srgbClr val="F2A900"/>
                </a:solidFill>
              </a:rPr>
              <a:t>[Student Name]</a:t>
            </a:r>
            <a:endParaRPr lang="en-US" sz="1800" dirty="0"/>
          </a:p>
        </p:txBody>
      </p:sp>
      <p:sp>
        <p:nvSpPr>
          <p:cNvPr id="11" name="Text 8"/>
          <p:cNvSpPr txBox="1"/>
          <p:nvPr/>
        </p:nvSpPr>
        <p:spPr>
          <a:xfrm>
            <a:off x="8183880" y="2944368"/>
            <a:ext cx="3200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ROLL NUMBER</a:t>
            </a:r>
            <a:endParaRPr lang="en-US" sz="1100" dirty="0"/>
          </a:p>
        </p:txBody>
      </p:sp>
      <p:sp>
        <p:nvSpPr>
          <p:cNvPr id="12" name="Text 9"/>
          <p:cNvSpPr txBox="1"/>
          <p:nvPr/>
        </p:nvSpPr>
        <p:spPr>
          <a:xfrm>
            <a:off x="8183880" y="3191256"/>
            <a:ext cx="3200400" cy="365760"/>
          </a:xfrm>
          <a:prstGeom prst="rect">
            <a:avLst/>
          </a:prstGeom>
          <a:noFill/>
          <a:ln/>
        </p:spPr>
        <p:txBody>
          <a:bodyPr wrap="square" lIns="0" tIns="0" rIns="0" bIns="0" rtlCol="0" anchor="t"/>
          <a:lstStyle/>
          <a:p>
            <a:pPr indent="0" marL="0">
              <a:buNone/>
            </a:pPr>
            <a:r>
              <a:rPr lang="en-US" sz="1800" b="1" dirty="0">
                <a:solidFill>
                  <a:srgbClr val="F2A900"/>
                </a:solidFill>
              </a:rPr>
              <a:t>[Roll Number]</a:t>
            </a:r>
            <a:endParaRPr lang="en-US" sz="1800" dirty="0"/>
          </a:p>
        </p:txBody>
      </p:sp>
      <p:sp>
        <p:nvSpPr>
          <p:cNvPr id="13" name="Text 10"/>
          <p:cNvSpPr txBox="1"/>
          <p:nvPr/>
        </p:nvSpPr>
        <p:spPr>
          <a:xfrm>
            <a:off x="8183880" y="3694176"/>
            <a:ext cx="3200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PROGRAM</a:t>
            </a:r>
            <a:endParaRPr lang="en-US" sz="1100" dirty="0"/>
          </a:p>
        </p:txBody>
      </p:sp>
      <p:sp>
        <p:nvSpPr>
          <p:cNvPr id="14" name="Text 11"/>
          <p:cNvSpPr txBox="1"/>
          <p:nvPr/>
        </p:nvSpPr>
        <p:spPr>
          <a:xfrm>
            <a:off x="8183880" y="3941064"/>
            <a:ext cx="3200400" cy="365760"/>
          </a:xfrm>
          <a:prstGeom prst="rect">
            <a:avLst/>
          </a:prstGeom>
          <a:noFill/>
          <a:ln/>
        </p:spPr>
        <p:txBody>
          <a:bodyPr wrap="square" lIns="0" tIns="0" rIns="0" bIns="0" rtlCol="0" anchor="t"/>
          <a:lstStyle/>
          <a:p>
            <a:pPr indent="0" marL="0">
              <a:buNone/>
            </a:pPr>
            <a:r>
              <a:rPr lang="en-US" sz="1800" b="1" dirty="0">
                <a:solidFill>
                  <a:srgbClr val="FFFFFF"/>
                </a:solidFill>
              </a:rPr>
              <a:t>B.Tech CSE – AIML</a:t>
            </a:r>
            <a:endParaRPr lang="en-US" sz="1800" dirty="0"/>
          </a:p>
        </p:txBody>
      </p:sp>
      <p:sp>
        <p:nvSpPr>
          <p:cNvPr id="15" name="Text 12"/>
          <p:cNvSpPr txBox="1"/>
          <p:nvPr/>
        </p:nvSpPr>
        <p:spPr>
          <a:xfrm>
            <a:off x="8183880" y="4443984"/>
            <a:ext cx="3200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UNIVERSITY</a:t>
            </a:r>
            <a:endParaRPr lang="en-US" sz="1100" dirty="0"/>
          </a:p>
        </p:txBody>
      </p:sp>
      <p:sp>
        <p:nvSpPr>
          <p:cNvPr id="16" name="Text 13"/>
          <p:cNvSpPr txBox="1"/>
          <p:nvPr/>
        </p:nvSpPr>
        <p:spPr>
          <a:xfrm>
            <a:off x="8183880" y="4690872"/>
            <a:ext cx="3200400" cy="365760"/>
          </a:xfrm>
          <a:prstGeom prst="rect">
            <a:avLst/>
          </a:prstGeom>
          <a:noFill/>
          <a:ln/>
        </p:spPr>
        <p:txBody>
          <a:bodyPr wrap="square" lIns="0" tIns="0" rIns="0" bIns="0" rtlCol="0" anchor="t"/>
          <a:lstStyle/>
          <a:p>
            <a:pPr indent="0" marL="0">
              <a:buNone/>
            </a:pPr>
            <a:r>
              <a:rPr lang="en-US" sz="1800" b="1" dirty="0">
                <a:solidFill>
                  <a:srgbClr val="FFFFFF"/>
                </a:solidFill>
              </a:rPr>
              <a:t>Woxsen University</a:t>
            </a:r>
            <a:endParaRPr lang="en-US" sz="1800" dirty="0"/>
          </a:p>
        </p:txBody>
      </p:sp>
      <p:sp>
        <p:nvSpPr>
          <p:cNvPr id="17" name="Text 14"/>
          <p:cNvSpPr txBox="1"/>
          <p:nvPr/>
        </p:nvSpPr>
        <p:spPr>
          <a:xfrm>
            <a:off x="8183880" y="5193792"/>
            <a:ext cx="32004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MENTOR</a:t>
            </a:r>
            <a:endParaRPr lang="en-US" sz="1100" dirty="0"/>
          </a:p>
        </p:txBody>
      </p:sp>
      <p:sp>
        <p:nvSpPr>
          <p:cNvPr id="18" name="Text 15"/>
          <p:cNvSpPr txBox="1"/>
          <p:nvPr/>
        </p:nvSpPr>
        <p:spPr>
          <a:xfrm>
            <a:off x="8183880" y="5440680"/>
            <a:ext cx="3200400" cy="365760"/>
          </a:xfrm>
          <a:prstGeom prst="rect">
            <a:avLst/>
          </a:prstGeom>
          <a:noFill/>
          <a:ln/>
        </p:spPr>
        <p:txBody>
          <a:bodyPr wrap="square" lIns="0" tIns="0" rIns="0" bIns="0" rtlCol="0" anchor="t"/>
          <a:lstStyle/>
          <a:p>
            <a:pPr indent="0" marL="0">
              <a:buNone/>
            </a:pPr>
            <a:r>
              <a:rPr lang="en-US" sz="1800" b="1" dirty="0">
                <a:solidFill>
                  <a:srgbClr val="F2A900"/>
                </a:solidFill>
              </a:rPr>
              <a:t>[Mentor 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Project Implementation Overview</a:t>
            </a:r>
            <a:endParaRPr lang="en-US" sz="3200" dirty="0"/>
          </a:p>
        </p:txBody>
      </p:sp>
      <p:sp>
        <p:nvSpPr>
          <p:cNvPr id="3" name="Flow box User"/>
          <p:cNvSpPr/>
          <p:nvPr/>
        </p:nvSpPr>
        <p:spPr>
          <a:xfrm>
            <a:off x="548640"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4" name="Icon circle"/>
          <p:cNvSpPr/>
          <p:nvPr/>
        </p:nvSpPr>
        <p:spPr>
          <a:xfrm>
            <a:off x="960120" y="1600200"/>
            <a:ext cx="731520" cy="731520"/>
          </a:xfrm>
          <a:prstGeom prst="ellipse">
            <a:avLst/>
          </a:prstGeom>
          <a:solidFill>
            <a:schemeClr val="accent1"/>
          </a:solidFill>
          <a:ln w="12700">
            <a:solidFill>
              <a:schemeClr val="accent1"/>
            </a:solidFill>
            <a:prstDash val="solid"/>
          </a:ln>
        </p:spPr>
      </p:sp>
      <p:pic>
        <p:nvPicPr>
          <p:cNvPr id="5" name="Image 0" descr="User icon">    </p:cNvPr>
          <p:cNvPicPr>
            <a:picLocks noChangeAspect="1"/>
          </p:cNvPicPr>
          <p:nvPr/>
        </p:nvPicPr>
        <p:blipFill>
          <a:blip r:embed="rId1"/>
          <a:stretch>
            <a:fillRect/>
          </a:stretch>
        </p:blipFill>
        <p:spPr>
          <a:xfrm>
            <a:off x="1150315" y="1790395"/>
            <a:ext cx="351130" cy="351130"/>
          </a:xfrm>
          <a:prstGeom prst="rect">
            <a:avLst/>
          </a:prstGeom>
        </p:spPr>
      </p:pic>
      <p:sp>
        <p:nvSpPr>
          <p:cNvPr id="6" name="Text 3"/>
          <p:cNvSpPr txBox="1"/>
          <p:nvPr/>
        </p:nvSpPr>
        <p:spPr>
          <a:xfrm>
            <a:off x="640080"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User</a:t>
            </a:r>
            <a:endParaRPr lang="en-US" sz="1500" dirty="0"/>
          </a:p>
        </p:txBody>
      </p:sp>
      <p:sp>
        <p:nvSpPr>
          <p:cNvPr id="7" name="Text 4"/>
          <p:cNvSpPr txBox="1"/>
          <p:nvPr/>
        </p:nvSpPr>
        <p:spPr>
          <a:xfrm>
            <a:off x="594360"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Browser</a:t>
            </a:r>
            <a:endParaRPr lang="en-US" sz="1300" dirty="0"/>
          </a:p>
        </p:txBody>
      </p:sp>
      <p:sp>
        <p:nvSpPr>
          <p:cNvPr id="8" name="Flow arrow"/>
          <p:cNvSpPr/>
          <p:nvPr/>
        </p:nvSpPr>
        <p:spPr>
          <a:xfrm>
            <a:off x="2139696" y="1965960"/>
            <a:ext cx="280355" cy="0"/>
          </a:xfrm>
          <a:prstGeom prst="line">
            <a:avLst/>
          </a:prstGeom>
          <a:noFill/>
          <a:ln w="28575">
            <a:solidFill>
              <a:schemeClr val="accent1"/>
            </a:solidFill>
            <a:prstDash val="solid"/>
            <a:tailEnd type="triangle"/>
          </a:ln>
        </p:spPr>
      </p:sp>
      <p:sp>
        <p:nvSpPr>
          <p:cNvPr id="9" name="Flow box Web Interface"/>
          <p:cNvSpPr/>
          <p:nvPr/>
        </p:nvSpPr>
        <p:spPr>
          <a:xfrm>
            <a:off x="2456627"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10" name="Icon circle"/>
          <p:cNvSpPr/>
          <p:nvPr/>
        </p:nvSpPr>
        <p:spPr>
          <a:xfrm>
            <a:off x="2868107" y="1600200"/>
            <a:ext cx="731520" cy="731520"/>
          </a:xfrm>
          <a:prstGeom prst="ellipse">
            <a:avLst/>
          </a:prstGeom>
          <a:solidFill>
            <a:schemeClr val="accent1"/>
          </a:solidFill>
          <a:ln w="12700">
            <a:solidFill>
              <a:schemeClr val="accent1"/>
            </a:solidFill>
            <a:prstDash val="solid"/>
          </a:ln>
        </p:spPr>
      </p:sp>
      <p:pic>
        <p:nvPicPr>
          <p:cNvPr id="11" name="Image 1" descr="Web Interface icon">    </p:cNvPr>
          <p:cNvPicPr>
            <a:picLocks noChangeAspect="1"/>
          </p:cNvPicPr>
          <p:nvPr/>
        </p:nvPicPr>
        <p:blipFill>
          <a:blip r:embed="rId2"/>
          <a:stretch>
            <a:fillRect/>
          </a:stretch>
        </p:blipFill>
        <p:spPr>
          <a:xfrm>
            <a:off x="3058302" y="1790395"/>
            <a:ext cx="351130" cy="351130"/>
          </a:xfrm>
          <a:prstGeom prst="rect">
            <a:avLst/>
          </a:prstGeom>
        </p:spPr>
      </p:pic>
      <p:sp>
        <p:nvSpPr>
          <p:cNvPr id="12" name="Text 8"/>
          <p:cNvSpPr txBox="1"/>
          <p:nvPr/>
        </p:nvSpPr>
        <p:spPr>
          <a:xfrm>
            <a:off x="2548067"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Web Interface</a:t>
            </a:r>
            <a:endParaRPr lang="en-US" sz="1500" dirty="0"/>
          </a:p>
        </p:txBody>
      </p:sp>
      <p:sp>
        <p:nvSpPr>
          <p:cNvPr id="13" name="Text 9"/>
          <p:cNvSpPr txBox="1"/>
          <p:nvPr/>
        </p:nvSpPr>
        <p:spPr>
          <a:xfrm>
            <a:off x="2502347"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HTML + CSS</a:t>
            </a:r>
            <a:endParaRPr lang="en-US" sz="1300" dirty="0"/>
          </a:p>
        </p:txBody>
      </p:sp>
      <p:sp>
        <p:nvSpPr>
          <p:cNvPr id="14" name="Flow arrow"/>
          <p:cNvSpPr/>
          <p:nvPr/>
        </p:nvSpPr>
        <p:spPr>
          <a:xfrm>
            <a:off x="4047683" y="1965960"/>
            <a:ext cx="280355" cy="0"/>
          </a:xfrm>
          <a:prstGeom prst="line">
            <a:avLst/>
          </a:prstGeom>
          <a:noFill/>
          <a:ln w="28575">
            <a:solidFill>
              <a:schemeClr val="accent1"/>
            </a:solidFill>
            <a:prstDash val="solid"/>
            <a:tailEnd type="triangle"/>
          </a:ln>
        </p:spPr>
      </p:sp>
      <p:sp>
        <p:nvSpPr>
          <p:cNvPr id="15" name="Flow box Flask Application"/>
          <p:cNvSpPr/>
          <p:nvPr/>
        </p:nvSpPr>
        <p:spPr>
          <a:xfrm>
            <a:off x="4364614"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16" name="Icon circle"/>
          <p:cNvSpPr/>
          <p:nvPr/>
        </p:nvSpPr>
        <p:spPr>
          <a:xfrm>
            <a:off x="4776094" y="1600200"/>
            <a:ext cx="731520" cy="731520"/>
          </a:xfrm>
          <a:prstGeom prst="ellipse">
            <a:avLst/>
          </a:prstGeom>
          <a:solidFill>
            <a:schemeClr val="accent1"/>
          </a:solidFill>
          <a:ln w="12700">
            <a:solidFill>
              <a:schemeClr val="accent1"/>
            </a:solidFill>
            <a:prstDash val="solid"/>
          </a:ln>
        </p:spPr>
      </p:sp>
      <p:pic>
        <p:nvPicPr>
          <p:cNvPr id="17" name="Image 2" descr="Flask Application icon">    </p:cNvPr>
          <p:cNvPicPr>
            <a:picLocks noChangeAspect="1"/>
          </p:cNvPicPr>
          <p:nvPr/>
        </p:nvPicPr>
        <p:blipFill>
          <a:blip r:embed="rId3"/>
          <a:stretch>
            <a:fillRect/>
          </a:stretch>
        </p:blipFill>
        <p:spPr>
          <a:xfrm>
            <a:off x="4966289" y="1790395"/>
            <a:ext cx="351130" cy="351130"/>
          </a:xfrm>
          <a:prstGeom prst="rect">
            <a:avLst/>
          </a:prstGeom>
        </p:spPr>
      </p:pic>
      <p:sp>
        <p:nvSpPr>
          <p:cNvPr id="18" name="Text 13"/>
          <p:cNvSpPr txBox="1"/>
          <p:nvPr/>
        </p:nvSpPr>
        <p:spPr>
          <a:xfrm>
            <a:off x="4456054"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Flask Application</a:t>
            </a:r>
            <a:endParaRPr lang="en-US" sz="1500" dirty="0"/>
          </a:p>
        </p:txBody>
      </p:sp>
      <p:sp>
        <p:nvSpPr>
          <p:cNvPr id="19" name="Text 14"/>
          <p:cNvSpPr txBox="1"/>
          <p:nvPr/>
        </p:nvSpPr>
        <p:spPr>
          <a:xfrm>
            <a:off x="4410334"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Python routes</a:t>
            </a:r>
            <a:endParaRPr lang="en-US" sz="1300" dirty="0"/>
          </a:p>
        </p:txBody>
      </p:sp>
      <p:sp>
        <p:nvSpPr>
          <p:cNvPr id="20" name="Flow arrow"/>
          <p:cNvSpPr/>
          <p:nvPr/>
        </p:nvSpPr>
        <p:spPr>
          <a:xfrm>
            <a:off x="5955670" y="1965960"/>
            <a:ext cx="280355" cy="0"/>
          </a:xfrm>
          <a:prstGeom prst="line">
            <a:avLst/>
          </a:prstGeom>
          <a:noFill/>
          <a:ln w="28575">
            <a:solidFill>
              <a:schemeClr val="accent1"/>
            </a:solidFill>
            <a:prstDash val="solid"/>
            <a:tailEnd type="triangle"/>
          </a:ln>
        </p:spPr>
      </p:sp>
      <p:sp>
        <p:nvSpPr>
          <p:cNvPr id="21" name="Flow box MySQL Connector"/>
          <p:cNvSpPr/>
          <p:nvPr/>
        </p:nvSpPr>
        <p:spPr>
          <a:xfrm>
            <a:off x="6272601"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22" name="Icon circle"/>
          <p:cNvSpPr/>
          <p:nvPr/>
        </p:nvSpPr>
        <p:spPr>
          <a:xfrm>
            <a:off x="6684081" y="1600200"/>
            <a:ext cx="731520" cy="731520"/>
          </a:xfrm>
          <a:prstGeom prst="ellipse">
            <a:avLst/>
          </a:prstGeom>
          <a:solidFill>
            <a:schemeClr val="accent1"/>
          </a:solidFill>
          <a:ln w="12700">
            <a:solidFill>
              <a:schemeClr val="accent1"/>
            </a:solidFill>
            <a:prstDash val="solid"/>
          </a:ln>
        </p:spPr>
      </p:sp>
      <p:pic>
        <p:nvPicPr>
          <p:cNvPr id="23" name="Image 3" descr="MySQL Connector icon">    </p:cNvPr>
          <p:cNvPicPr>
            <a:picLocks noChangeAspect="1"/>
          </p:cNvPicPr>
          <p:nvPr/>
        </p:nvPicPr>
        <p:blipFill>
          <a:blip r:embed="rId4"/>
          <a:stretch>
            <a:fillRect/>
          </a:stretch>
        </p:blipFill>
        <p:spPr>
          <a:xfrm>
            <a:off x="6874276" y="1790395"/>
            <a:ext cx="351130" cy="351130"/>
          </a:xfrm>
          <a:prstGeom prst="rect">
            <a:avLst/>
          </a:prstGeom>
        </p:spPr>
      </p:pic>
      <p:sp>
        <p:nvSpPr>
          <p:cNvPr id="24" name="Text 18"/>
          <p:cNvSpPr txBox="1"/>
          <p:nvPr/>
        </p:nvSpPr>
        <p:spPr>
          <a:xfrm>
            <a:off x="6364041"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MySQL Connector</a:t>
            </a:r>
            <a:endParaRPr lang="en-US" sz="1500" dirty="0"/>
          </a:p>
        </p:txBody>
      </p:sp>
      <p:sp>
        <p:nvSpPr>
          <p:cNvPr id="25" name="Text 19"/>
          <p:cNvSpPr txBox="1"/>
          <p:nvPr/>
        </p:nvSpPr>
        <p:spPr>
          <a:xfrm>
            <a:off x="6318321"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mysql.connector</a:t>
            </a:r>
            <a:endParaRPr lang="en-US" sz="1300" dirty="0"/>
          </a:p>
        </p:txBody>
      </p:sp>
      <p:sp>
        <p:nvSpPr>
          <p:cNvPr id="26" name="Flow arrow"/>
          <p:cNvSpPr/>
          <p:nvPr/>
        </p:nvSpPr>
        <p:spPr>
          <a:xfrm>
            <a:off x="7863657" y="1965960"/>
            <a:ext cx="280355" cy="0"/>
          </a:xfrm>
          <a:prstGeom prst="line">
            <a:avLst/>
          </a:prstGeom>
          <a:noFill/>
          <a:ln w="28575">
            <a:solidFill>
              <a:schemeClr val="accent1"/>
            </a:solidFill>
            <a:prstDash val="solid"/>
            <a:tailEnd type="triangle"/>
          </a:ln>
        </p:spPr>
      </p:sp>
      <p:sp>
        <p:nvSpPr>
          <p:cNvPr id="27" name="Flow box MySQL Database"/>
          <p:cNvSpPr/>
          <p:nvPr/>
        </p:nvSpPr>
        <p:spPr>
          <a:xfrm>
            <a:off x="8180588"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28" name="Icon circle"/>
          <p:cNvSpPr/>
          <p:nvPr/>
        </p:nvSpPr>
        <p:spPr>
          <a:xfrm>
            <a:off x="8592068" y="1600200"/>
            <a:ext cx="731520" cy="731520"/>
          </a:xfrm>
          <a:prstGeom prst="ellipse">
            <a:avLst/>
          </a:prstGeom>
          <a:solidFill>
            <a:schemeClr val="accent2"/>
          </a:solidFill>
          <a:ln w="12700">
            <a:solidFill>
              <a:schemeClr val="accent2"/>
            </a:solidFill>
            <a:prstDash val="solid"/>
          </a:ln>
        </p:spPr>
      </p:sp>
      <p:pic>
        <p:nvPicPr>
          <p:cNvPr id="29" name="Image 4" descr="MySQL Database icon">    </p:cNvPr>
          <p:cNvPicPr>
            <a:picLocks noChangeAspect="1"/>
          </p:cNvPicPr>
          <p:nvPr/>
        </p:nvPicPr>
        <p:blipFill>
          <a:blip r:embed="rId5"/>
          <a:stretch>
            <a:fillRect/>
          </a:stretch>
        </p:blipFill>
        <p:spPr>
          <a:xfrm>
            <a:off x="8782263" y="1790395"/>
            <a:ext cx="351130" cy="351130"/>
          </a:xfrm>
          <a:prstGeom prst="rect">
            <a:avLst/>
          </a:prstGeom>
        </p:spPr>
      </p:pic>
      <p:sp>
        <p:nvSpPr>
          <p:cNvPr id="30" name="Text 23"/>
          <p:cNvSpPr txBox="1"/>
          <p:nvPr/>
        </p:nvSpPr>
        <p:spPr>
          <a:xfrm>
            <a:off x="8272028"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MySQL Database</a:t>
            </a:r>
            <a:endParaRPr lang="en-US" sz="1500" dirty="0"/>
          </a:p>
        </p:txBody>
      </p:sp>
      <p:sp>
        <p:nvSpPr>
          <p:cNvPr id="31" name="Text 24"/>
          <p:cNvSpPr txBox="1"/>
          <p:nvPr/>
        </p:nvSpPr>
        <p:spPr>
          <a:xfrm>
            <a:off x="8226308"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microfinance_db</a:t>
            </a:r>
            <a:endParaRPr lang="en-US" sz="1300" dirty="0"/>
          </a:p>
        </p:txBody>
      </p:sp>
      <p:sp>
        <p:nvSpPr>
          <p:cNvPr id="32" name="Flow arrow"/>
          <p:cNvSpPr/>
          <p:nvPr/>
        </p:nvSpPr>
        <p:spPr>
          <a:xfrm>
            <a:off x="9771644" y="1965960"/>
            <a:ext cx="280355" cy="0"/>
          </a:xfrm>
          <a:prstGeom prst="line">
            <a:avLst/>
          </a:prstGeom>
          <a:noFill/>
          <a:ln w="28575">
            <a:solidFill>
              <a:schemeClr val="accent1"/>
            </a:solidFill>
            <a:prstDash val="solid"/>
            <a:tailEnd type="triangle"/>
          </a:ln>
        </p:spPr>
      </p:sp>
      <p:sp>
        <p:nvSpPr>
          <p:cNvPr id="33" name="Flow box Tables"/>
          <p:cNvSpPr/>
          <p:nvPr/>
        </p:nvSpPr>
        <p:spPr>
          <a:xfrm>
            <a:off x="10088575" y="1371600"/>
            <a:ext cx="1554480" cy="2240280"/>
          </a:xfrm>
          <a:prstGeom prst="roundRect">
            <a:avLst>
              <a:gd name="adj" fmla="val 705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34" name="Icon circle"/>
          <p:cNvSpPr/>
          <p:nvPr/>
        </p:nvSpPr>
        <p:spPr>
          <a:xfrm>
            <a:off x="10500055" y="1600200"/>
            <a:ext cx="731520" cy="731520"/>
          </a:xfrm>
          <a:prstGeom prst="ellipse">
            <a:avLst/>
          </a:prstGeom>
          <a:solidFill>
            <a:schemeClr val="accent1"/>
          </a:solidFill>
          <a:ln w="12700">
            <a:solidFill>
              <a:schemeClr val="accent1"/>
            </a:solidFill>
            <a:prstDash val="solid"/>
          </a:ln>
        </p:spPr>
      </p:sp>
      <p:pic>
        <p:nvPicPr>
          <p:cNvPr id="35" name="Image 5" descr="Tables icon">    </p:cNvPr>
          <p:cNvPicPr>
            <a:picLocks noChangeAspect="1"/>
          </p:cNvPicPr>
          <p:nvPr/>
        </p:nvPicPr>
        <p:blipFill>
          <a:blip r:embed="rId6"/>
          <a:stretch>
            <a:fillRect/>
          </a:stretch>
        </p:blipFill>
        <p:spPr>
          <a:xfrm>
            <a:off x="10690250" y="1790395"/>
            <a:ext cx="351130" cy="351130"/>
          </a:xfrm>
          <a:prstGeom prst="rect">
            <a:avLst/>
          </a:prstGeom>
        </p:spPr>
      </p:pic>
      <p:sp>
        <p:nvSpPr>
          <p:cNvPr id="36" name="Text 28"/>
          <p:cNvSpPr txBox="1"/>
          <p:nvPr/>
        </p:nvSpPr>
        <p:spPr>
          <a:xfrm>
            <a:off x="10180015" y="2514600"/>
            <a:ext cx="1371600" cy="548640"/>
          </a:xfrm>
          <a:prstGeom prst="rect">
            <a:avLst/>
          </a:prstGeom>
          <a:noFill/>
          <a:ln/>
        </p:spPr>
        <p:txBody>
          <a:bodyPr wrap="square" lIns="0" tIns="0" rIns="0" bIns="0" rtlCol="0" anchor="t"/>
          <a:lstStyle/>
          <a:p>
            <a:pPr algn="ctr" indent="0" marL="0">
              <a:buNone/>
            </a:pPr>
            <a:r>
              <a:rPr lang="en-US" sz="1500" b="1" dirty="0">
                <a:solidFill>
                  <a:schemeClr val="tx1"/>
                </a:solidFill>
              </a:rPr>
              <a:t>Tables</a:t>
            </a:r>
            <a:endParaRPr lang="en-US" sz="1500" dirty="0"/>
          </a:p>
        </p:txBody>
      </p:sp>
      <p:sp>
        <p:nvSpPr>
          <p:cNvPr id="37" name="Text 29"/>
          <p:cNvSpPr txBox="1"/>
          <p:nvPr/>
        </p:nvSpPr>
        <p:spPr>
          <a:xfrm>
            <a:off x="10134295" y="3108960"/>
            <a:ext cx="1463040" cy="320040"/>
          </a:xfrm>
          <a:prstGeom prst="rect">
            <a:avLst/>
          </a:prstGeom>
          <a:noFill/>
          <a:ln/>
        </p:spPr>
        <p:txBody>
          <a:bodyPr wrap="square" lIns="0" tIns="0" rIns="0" bIns="0" rtlCol="0" anchor="t"/>
          <a:lstStyle/>
          <a:p>
            <a:pPr algn="ctr" indent="0" marL="0">
              <a:buNone/>
            </a:pPr>
            <a:r>
              <a:rPr lang="en-US" sz="1300" dirty="0">
                <a:solidFill>
                  <a:srgbClr val="5B6B80"/>
                </a:solidFill>
              </a:rPr>
              <a:t>6 tables</a:t>
            </a:r>
            <a:endParaRPr lang="en-US" sz="1300" dirty="0"/>
          </a:p>
        </p:txBody>
      </p:sp>
      <p:sp>
        <p:nvSpPr>
          <p:cNvPr id="38" name="Text 30"/>
          <p:cNvSpPr txBox="1"/>
          <p:nvPr/>
        </p:nvSpPr>
        <p:spPr>
          <a:xfrm>
            <a:off x="548640" y="3931920"/>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TECHNOLOGY AT EACH LAYER</a:t>
            </a:r>
            <a:endParaRPr lang="en-US" sz="1200" dirty="0"/>
          </a:p>
        </p:txBody>
      </p:sp>
      <p:sp>
        <p:nvSpPr>
          <p:cNvPr id="39" name="Layer card FRONT END"/>
          <p:cNvSpPr/>
          <p:nvPr/>
        </p:nvSpPr>
        <p:spPr>
          <a:xfrm>
            <a:off x="548640" y="4343400"/>
            <a:ext cx="2651760" cy="1783080"/>
          </a:xfrm>
          <a:prstGeom prst="roundRect">
            <a:avLst>
              <a:gd name="adj" fmla="val 6154"/>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40" name="Text 32"/>
          <p:cNvSpPr txBox="1"/>
          <p:nvPr/>
        </p:nvSpPr>
        <p:spPr>
          <a:xfrm>
            <a:off x="777240" y="45262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FRONT END</a:t>
            </a:r>
            <a:endParaRPr lang="en-US" sz="1100" dirty="0"/>
          </a:p>
        </p:txBody>
      </p:sp>
      <p:sp>
        <p:nvSpPr>
          <p:cNvPr id="41" name="Text 33"/>
          <p:cNvSpPr txBox="1"/>
          <p:nvPr/>
        </p:nvSpPr>
        <p:spPr>
          <a:xfrm>
            <a:off x="777240" y="4754880"/>
            <a:ext cx="2286000" cy="640080"/>
          </a:xfrm>
          <a:prstGeom prst="rect">
            <a:avLst/>
          </a:prstGeom>
          <a:noFill/>
          <a:ln/>
        </p:spPr>
        <p:txBody>
          <a:bodyPr wrap="square" lIns="0" tIns="0" rIns="0" bIns="0" rtlCol="0" anchor="t"/>
          <a:lstStyle/>
          <a:p>
            <a:pPr indent="0" marL="0">
              <a:buNone/>
            </a:pPr>
            <a:r>
              <a:rPr lang="en-US" sz="1600" b="1" dirty="0">
                <a:solidFill>
                  <a:schemeClr val="tx1"/>
                </a:solidFill>
              </a:rPr>
              <a:t>HTML + CSS</a:t>
            </a:r>
            <a:endParaRPr lang="en-US" sz="1600" dirty="0"/>
          </a:p>
        </p:txBody>
      </p:sp>
      <p:sp>
        <p:nvSpPr>
          <p:cNvPr id="42" name="Text 34"/>
          <p:cNvSpPr txBox="1"/>
          <p:nvPr/>
        </p:nvSpPr>
        <p:spPr>
          <a:xfrm>
            <a:off x="777240" y="5440680"/>
            <a:ext cx="2194560" cy="640080"/>
          </a:xfrm>
          <a:prstGeom prst="rect">
            <a:avLst/>
          </a:prstGeom>
          <a:noFill/>
          <a:ln/>
        </p:spPr>
        <p:txBody>
          <a:bodyPr wrap="square" lIns="0" tIns="0" rIns="0" bIns="0" rtlCol="0" anchor="t"/>
          <a:lstStyle/>
          <a:p>
            <a:pPr indent="0" marL="0">
              <a:buNone/>
            </a:pPr>
            <a:r>
              <a:rPr lang="en-US" sz="1400" dirty="0">
                <a:solidFill>
                  <a:schemeClr val="tx2"/>
                </a:solidFill>
              </a:rPr>
              <a:t>Registration form and client records table</a:t>
            </a:r>
            <a:endParaRPr lang="en-US" sz="1400" dirty="0"/>
          </a:p>
        </p:txBody>
      </p:sp>
      <p:sp>
        <p:nvSpPr>
          <p:cNvPr id="43" name="Layer card BACKEND"/>
          <p:cNvSpPr/>
          <p:nvPr/>
        </p:nvSpPr>
        <p:spPr>
          <a:xfrm>
            <a:off x="3362858" y="4343400"/>
            <a:ext cx="2651760" cy="1783080"/>
          </a:xfrm>
          <a:prstGeom prst="roundRect">
            <a:avLst>
              <a:gd name="adj" fmla="val 6154"/>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44" name="Text 36"/>
          <p:cNvSpPr txBox="1"/>
          <p:nvPr/>
        </p:nvSpPr>
        <p:spPr>
          <a:xfrm>
            <a:off x="3591458" y="45262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BACKEND</a:t>
            </a:r>
            <a:endParaRPr lang="en-US" sz="1100" dirty="0"/>
          </a:p>
        </p:txBody>
      </p:sp>
      <p:sp>
        <p:nvSpPr>
          <p:cNvPr id="45" name="Text 37"/>
          <p:cNvSpPr txBox="1"/>
          <p:nvPr/>
        </p:nvSpPr>
        <p:spPr>
          <a:xfrm>
            <a:off x="3591458" y="4754880"/>
            <a:ext cx="2286000" cy="640080"/>
          </a:xfrm>
          <a:prstGeom prst="rect">
            <a:avLst/>
          </a:prstGeom>
          <a:noFill/>
          <a:ln/>
        </p:spPr>
        <p:txBody>
          <a:bodyPr wrap="square" lIns="0" tIns="0" rIns="0" bIns="0" rtlCol="0" anchor="t"/>
          <a:lstStyle/>
          <a:p>
            <a:pPr indent="0" marL="0">
              <a:buNone/>
            </a:pPr>
            <a:r>
              <a:rPr lang="en-US" sz="1600" b="1" dirty="0">
                <a:solidFill>
                  <a:schemeClr val="tx1"/>
                </a:solidFill>
              </a:rPr>
              <a:t>Python Flask</a:t>
            </a:r>
            <a:endParaRPr lang="en-US" sz="1600" dirty="0"/>
          </a:p>
        </p:txBody>
      </p:sp>
      <p:sp>
        <p:nvSpPr>
          <p:cNvPr id="46" name="Text 38"/>
          <p:cNvSpPr txBox="1"/>
          <p:nvPr/>
        </p:nvSpPr>
        <p:spPr>
          <a:xfrm>
            <a:off x="3591458" y="5440680"/>
            <a:ext cx="2194560" cy="640080"/>
          </a:xfrm>
          <a:prstGeom prst="rect">
            <a:avLst/>
          </a:prstGeom>
          <a:noFill/>
          <a:ln/>
        </p:spPr>
        <p:txBody>
          <a:bodyPr wrap="square" lIns="0" tIns="0" rIns="0" bIns="0" rtlCol="0" anchor="t"/>
          <a:lstStyle/>
          <a:p>
            <a:pPr indent="0" marL="0">
              <a:buNone/>
            </a:pPr>
            <a:r>
              <a:rPr lang="en-US" sz="1400" dirty="0">
                <a:solidFill>
                  <a:schemeClr val="tx2"/>
                </a:solidFill>
              </a:rPr>
              <a:t>Routes receive requests and run the SQL</a:t>
            </a:r>
            <a:endParaRPr lang="en-US" sz="1400" dirty="0"/>
          </a:p>
        </p:txBody>
      </p:sp>
      <p:sp>
        <p:nvSpPr>
          <p:cNvPr id="47" name="Layer card DATABASE"/>
          <p:cNvSpPr/>
          <p:nvPr/>
        </p:nvSpPr>
        <p:spPr>
          <a:xfrm>
            <a:off x="6177077" y="4343400"/>
            <a:ext cx="2651760" cy="1783080"/>
          </a:xfrm>
          <a:prstGeom prst="roundRect">
            <a:avLst>
              <a:gd name="adj" fmla="val 6154"/>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48" name="Text 40"/>
          <p:cNvSpPr txBox="1"/>
          <p:nvPr/>
        </p:nvSpPr>
        <p:spPr>
          <a:xfrm>
            <a:off x="6405677" y="45262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DATABASE</a:t>
            </a:r>
            <a:endParaRPr lang="en-US" sz="1100" dirty="0"/>
          </a:p>
        </p:txBody>
      </p:sp>
      <p:sp>
        <p:nvSpPr>
          <p:cNvPr id="49" name="Text 41"/>
          <p:cNvSpPr txBox="1"/>
          <p:nvPr/>
        </p:nvSpPr>
        <p:spPr>
          <a:xfrm>
            <a:off x="6405677" y="4754880"/>
            <a:ext cx="2286000" cy="640080"/>
          </a:xfrm>
          <a:prstGeom prst="rect">
            <a:avLst/>
          </a:prstGeom>
          <a:noFill/>
          <a:ln/>
        </p:spPr>
        <p:txBody>
          <a:bodyPr wrap="square" lIns="0" tIns="0" rIns="0" bIns="0" rtlCol="0" anchor="t"/>
          <a:lstStyle/>
          <a:p>
            <a:pPr indent="0" marL="0">
              <a:buNone/>
            </a:pPr>
            <a:r>
              <a:rPr lang="en-US" sz="1600" b="1" dirty="0">
                <a:solidFill>
                  <a:schemeClr val="tx1"/>
                </a:solidFill>
              </a:rPr>
              <a:t>MySQL</a:t>
            </a:r>
            <a:endParaRPr lang="en-US" sz="1600" dirty="0"/>
          </a:p>
        </p:txBody>
      </p:sp>
      <p:sp>
        <p:nvSpPr>
          <p:cNvPr id="50" name="Text 42"/>
          <p:cNvSpPr txBox="1"/>
          <p:nvPr/>
        </p:nvSpPr>
        <p:spPr>
          <a:xfrm>
            <a:off x="6405677" y="5440680"/>
            <a:ext cx="2194560" cy="640080"/>
          </a:xfrm>
          <a:prstGeom prst="rect">
            <a:avLst/>
          </a:prstGeom>
          <a:noFill/>
          <a:ln/>
        </p:spPr>
        <p:txBody>
          <a:bodyPr wrap="square" lIns="0" tIns="0" rIns="0" bIns="0" rtlCol="0" anchor="t"/>
          <a:lstStyle/>
          <a:p>
            <a:pPr indent="0" marL="0">
              <a:buNone/>
            </a:pPr>
            <a:r>
              <a:rPr lang="en-US" sz="1400" dirty="0">
                <a:solidFill>
                  <a:schemeClr val="tx2"/>
                </a:solidFill>
              </a:rPr>
              <a:t>Stores all data in microfinance_db</a:t>
            </a:r>
            <a:endParaRPr lang="en-US" sz="1400" dirty="0"/>
          </a:p>
        </p:txBody>
      </p:sp>
      <p:sp>
        <p:nvSpPr>
          <p:cNvPr id="51" name="Layer card CONNECTIVITY"/>
          <p:cNvSpPr/>
          <p:nvPr/>
        </p:nvSpPr>
        <p:spPr>
          <a:xfrm>
            <a:off x="8991295" y="4343400"/>
            <a:ext cx="2651760" cy="1783080"/>
          </a:xfrm>
          <a:prstGeom prst="roundRect">
            <a:avLst>
              <a:gd name="adj" fmla="val 6154"/>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52" name="Text 44"/>
          <p:cNvSpPr txBox="1"/>
          <p:nvPr/>
        </p:nvSpPr>
        <p:spPr>
          <a:xfrm>
            <a:off x="9219895" y="45262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CONNECTIVITY</a:t>
            </a:r>
            <a:endParaRPr lang="en-US" sz="1100" dirty="0"/>
          </a:p>
        </p:txBody>
      </p:sp>
      <p:sp>
        <p:nvSpPr>
          <p:cNvPr id="53" name="Text 45"/>
          <p:cNvSpPr txBox="1"/>
          <p:nvPr/>
        </p:nvSpPr>
        <p:spPr>
          <a:xfrm>
            <a:off x="9219895" y="4754880"/>
            <a:ext cx="2286000" cy="640080"/>
          </a:xfrm>
          <a:prstGeom prst="rect">
            <a:avLst/>
          </a:prstGeom>
          <a:noFill/>
          <a:ln/>
        </p:spPr>
        <p:txBody>
          <a:bodyPr wrap="square" lIns="0" tIns="0" rIns="0" bIns="0" rtlCol="0" anchor="t"/>
          <a:lstStyle/>
          <a:p>
            <a:pPr indent="0" marL="0">
              <a:buNone/>
            </a:pPr>
            <a:r>
              <a:rPr lang="en-US" sz="1600" b="1" dirty="0">
                <a:solidFill>
                  <a:schemeClr val="tx1"/>
                </a:solidFill>
              </a:rPr>
              <a:t>mysql-connector-python</a:t>
            </a:r>
            <a:endParaRPr lang="en-US" sz="1600" dirty="0"/>
          </a:p>
        </p:txBody>
      </p:sp>
      <p:sp>
        <p:nvSpPr>
          <p:cNvPr id="54" name="Text 46"/>
          <p:cNvSpPr txBox="1"/>
          <p:nvPr/>
        </p:nvSpPr>
        <p:spPr>
          <a:xfrm>
            <a:off x="9219895" y="5440680"/>
            <a:ext cx="2194560" cy="640080"/>
          </a:xfrm>
          <a:prstGeom prst="rect">
            <a:avLst/>
          </a:prstGeom>
          <a:noFill/>
          <a:ln/>
        </p:spPr>
        <p:txBody>
          <a:bodyPr wrap="square" lIns="0" tIns="0" rIns="0" bIns="0" rtlCol="0" anchor="t"/>
          <a:lstStyle/>
          <a:p>
            <a:pPr indent="0" marL="0">
              <a:buNone/>
            </a:pPr>
            <a:r>
              <a:rPr lang="en-US" sz="1400" dirty="0">
                <a:solidFill>
                  <a:schemeClr val="tx2"/>
                </a:solidFill>
              </a:rPr>
              <a:t>Sends queries and commits changes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Database Implementation</a:t>
            </a:r>
            <a:endParaRPr lang="en-US" sz="3200" dirty="0"/>
          </a:p>
        </p:txBody>
      </p:sp>
      <p:sp>
        <p:nvSpPr>
          <p:cNvPr id="3" name="Database panel"/>
          <p:cNvSpPr/>
          <p:nvPr/>
        </p:nvSpPr>
        <p:spPr>
          <a:xfrm>
            <a:off x="548640" y="1371600"/>
            <a:ext cx="3291840" cy="4754880"/>
          </a:xfrm>
          <a:prstGeom prst="roundRect">
            <a:avLst>
              <a:gd name="adj" fmla="val 3333"/>
            </a:avLst>
          </a:prstGeom>
          <a:solidFill>
            <a:schemeClr val="tx1"/>
          </a:solidFill>
          <a:ln w="12700">
            <a:solidFill>
              <a:schemeClr val="tx1"/>
            </a:solidFill>
            <a:prstDash val="solid"/>
          </a:ln>
        </p:spPr>
      </p:sp>
      <p:sp>
        <p:nvSpPr>
          <p:cNvPr id="4" name="Icon circle"/>
          <p:cNvSpPr/>
          <p:nvPr/>
        </p:nvSpPr>
        <p:spPr>
          <a:xfrm>
            <a:off x="868680" y="1691640"/>
            <a:ext cx="914400" cy="914400"/>
          </a:xfrm>
          <a:prstGeom prst="ellipse">
            <a:avLst/>
          </a:prstGeom>
          <a:solidFill>
            <a:schemeClr val="accent1"/>
          </a:solidFill>
          <a:ln w="12700">
            <a:solidFill>
              <a:schemeClr val="accent1"/>
            </a:solidFill>
            <a:prstDash val="solid"/>
          </a:ln>
        </p:spPr>
      </p:sp>
      <p:pic>
        <p:nvPicPr>
          <p:cNvPr id="5" name="Image 0" descr="Database icon">    </p:cNvPr>
          <p:cNvPicPr>
            <a:picLocks noChangeAspect="1"/>
          </p:cNvPicPr>
          <p:nvPr/>
        </p:nvPicPr>
        <p:blipFill>
          <a:blip r:embed="rId1"/>
          <a:stretch>
            <a:fillRect/>
          </a:stretch>
        </p:blipFill>
        <p:spPr>
          <a:xfrm>
            <a:off x="1106424" y="1929384"/>
            <a:ext cx="438912" cy="438912"/>
          </a:xfrm>
          <a:prstGeom prst="rect">
            <a:avLst/>
          </a:prstGeom>
        </p:spPr>
      </p:pic>
      <p:sp>
        <p:nvSpPr>
          <p:cNvPr id="6" name="Text 3"/>
          <p:cNvSpPr txBox="1"/>
          <p:nvPr/>
        </p:nvSpPr>
        <p:spPr>
          <a:xfrm>
            <a:off x="868680" y="2834640"/>
            <a:ext cx="27432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DATABASE NAME</a:t>
            </a:r>
            <a:endParaRPr lang="en-US" sz="1100" dirty="0"/>
          </a:p>
        </p:txBody>
      </p:sp>
      <p:sp>
        <p:nvSpPr>
          <p:cNvPr id="7" name="Text 4"/>
          <p:cNvSpPr txBox="1"/>
          <p:nvPr/>
        </p:nvSpPr>
        <p:spPr>
          <a:xfrm>
            <a:off x="868680" y="3108960"/>
            <a:ext cx="2743200" cy="411480"/>
          </a:xfrm>
          <a:prstGeom prst="rect">
            <a:avLst/>
          </a:prstGeom>
          <a:noFill/>
          <a:ln/>
        </p:spPr>
        <p:txBody>
          <a:bodyPr wrap="square" lIns="0" tIns="0" rIns="0" bIns="0" rtlCol="0" anchor="t"/>
          <a:lstStyle/>
          <a:p>
            <a:pPr indent="0" marL="0">
              <a:buNone/>
            </a:pPr>
            <a:r>
              <a:rPr lang="en-US" sz="2200" b="1" dirty="0">
                <a:solidFill>
                  <a:schemeClr val="bg1"/>
                </a:solidFill>
              </a:rPr>
              <a:t>microfinance_db</a:t>
            </a:r>
            <a:endParaRPr lang="en-US" sz="2200" dirty="0"/>
          </a:p>
        </p:txBody>
      </p:sp>
      <p:sp>
        <p:nvSpPr>
          <p:cNvPr id="8" name="Text 5"/>
          <p:cNvSpPr txBox="1"/>
          <p:nvPr/>
        </p:nvSpPr>
        <p:spPr>
          <a:xfrm>
            <a:off x="868680" y="3566160"/>
            <a:ext cx="2743200" cy="320040"/>
          </a:xfrm>
          <a:prstGeom prst="rect">
            <a:avLst/>
          </a:prstGeom>
          <a:noFill/>
          <a:ln/>
        </p:spPr>
        <p:txBody>
          <a:bodyPr wrap="square" lIns="0" tIns="0" rIns="0" bIns="0" rtlCol="0" anchor="t"/>
          <a:lstStyle/>
          <a:p>
            <a:pPr indent="0" marL="0">
              <a:buNone/>
            </a:pPr>
            <a:r>
              <a:rPr lang="en-US" sz="1500" dirty="0">
                <a:solidFill>
                  <a:schemeClr val="accent6"/>
                </a:solidFill>
              </a:rPr>
              <a:t>MySQL 8.0</a:t>
            </a:r>
            <a:endParaRPr lang="en-US" sz="1500" dirty="0"/>
          </a:p>
        </p:txBody>
      </p:sp>
      <p:sp>
        <p:nvSpPr>
          <p:cNvPr id="9" name="Text 6"/>
          <p:cNvSpPr txBox="1"/>
          <p:nvPr/>
        </p:nvSpPr>
        <p:spPr>
          <a:xfrm>
            <a:off x="868680" y="4160520"/>
            <a:ext cx="2697480" cy="1737360"/>
          </a:xfrm>
          <a:prstGeom prst="rect">
            <a:avLst/>
          </a:prstGeom>
          <a:noFill/>
          <a:ln/>
        </p:spPr>
        <p:txBody>
          <a:bodyPr wrap="square" lIns="0" tIns="0" rIns="0" bIns="0" rtlCol="0" anchor="t"/>
          <a:lstStyle/>
          <a:p>
            <a:pPr indent="0" marL="0">
              <a:buNone/>
            </a:pPr>
            <a:r>
              <a:rPr lang="en-US" sz="1400" dirty="0">
                <a:solidFill>
                  <a:schemeClr val="bg1"/>
                </a:solidFill>
              </a:rPr>
              <a:t>Sample data loaded: branches in Hyderabad, Vijayawada and Warangal, plus officers, clients, loans, repayments and transaction logs.</a:t>
            </a:r>
            <a:endParaRPr lang="en-US" sz="1400" dirty="0"/>
          </a:p>
        </p:txBody>
      </p:sp>
      <p:sp>
        <p:nvSpPr>
          <p:cNvPr id="10" name="Table card branch"/>
          <p:cNvSpPr/>
          <p:nvPr/>
        </p:nvSpPr>
        <p:spPr>
          <a:xfrm>
            <a:off x="4114800" y="1371600"/>
            <a:ext cx="2395728" cy="2286000"/>
          </a:xfrm>
          <a:prstGeom prst="roundRect">
            <a:avLst>
              <a:gd name="adj" fmla="val 4800"/>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11" name="Icon circle"/>
          <p:cNvSpPr/>
          <p:nvPr/>
        </p:nvSpPr>
        <p:spPr>
          <a:xfrm>
            <a:off x="4343400" y="1600200"/>
            <a:ext cx="594360" cy="594360"/>
          </a:xfrm>
          <a:prstGeom prst="ellipse">
            <a:avLst/>
          </a:prstGeom>
          <a:solidFill>
            <a:schemeClr val="accent1"/>
          </a:solidFill>
          <a:ln w="12700">
            <a:solidFill>
              <a:schemeClr val="accent1"/>
            </a:solidFill>
            <a:prstDash val="solid"/>
          </a:ln>
        </p:spPr>
      </p:sp>
      <p:pic>
        <p:nvPicPr>
          <p:cNvPr id="12" name="Image 1" descr="branch icon">    </p:cNvPr>
          <p:cNvPicPr>
            <a:picLocks noChangeAspect="1"/>
          </p:cNvPicPr>
          <p:nvPr/>
        </p:nvPicPr>
        <p:blipFill>
          <a:blip r:embed="rId2"/>
          <a:stretch>
            <a:fillRect/>
          </a:stretch>
        </p:blipFill>
        <p:spPr>
          <a:xfrm>
            <a:off x="4497934" y="1754734"/>
            <a:ext cx="285293" cy="285293"/>
          </a:xfrm>
          <a:prstGeom prst="rect">
            <a:avLst/>
          </a:prstGeom>
        </p:spPr>
      </p:pic>
      <p:sp>
        <p:nvSpPr>
          <p:cNvPr id="13" name="Text 9"/>
          <p:cNvSpPr txBox="1"/>
          <p:nvPr/>
        </p:nvSpPr>
        <p:spPr>
          <a:xfrm>
            <a:off x="4343400" y="2331720"/>
            <a:ext cx="2029968" cy="365760"/>
          </a:xfrm>
          <a:prstGeom prst="rect">
            <a:avLst/>
          </a:prstGeom>
          <a:noFill/>
          <a:ln/>
        </p:spPr>
        <p:txBody>
          <a:bodyPr wrap="square" lIns="0" tIns="0" rIns="0" bIns="0" rtlCol="0" anchor="t"/>
          <a:lstStyle/>
          <a:p>
            <a:pPr indent="0" marL="0">
              <a:buNone/>
            </a:pPr>
            <a:r>
              <a:rPr lang="en-US" sz="1800" b="1" dirty="0">
                <a:solidFill>
                  <a:schemeClr val="tx1"/>
                </a:solidFill>
              </a:rPr>
              <a:t>branch</a:t>
            </a:r>
            <a:endParaRPr lang="en-US" sz="1800" dirty="0"/>
          </a:p>
        </p:txBody>
      </p:sp>
      <p:sp>
        <p:nvSpPr>
          <p:cNvPr id="14" name="Text 10"/>
          <p:cNvSpPr txBox="1"/>
          <p:nvPr/>
        </p:nvSpPr>
        <p:spPr>
          <a:xfrm>
            <a:off x="4343400" y="2743200"/>
            <a:ext cx="1984248" cy="822960"/>
          </a:xfrm>
          <a:prstGeom prst="rect">
            <a:avLst/>
          </a:prstGeom>
          <a:noFill/>
          <a:ln/>
        </p:spPr>
        <p:txBody>
          <a:bodyPr wrap="square" lIns="0" tIns="0" rIns="0" bIns="0" rtlCol="0" anchor="t"/>
          <a:lstStyle/>
          <a:p>
            <a:pPr indent="0" marL="0">
              <a:buNone/>
            </a:pPr>
            <a:r>
              <a:rPr lang="en-US" sz="1400" dirty="0">
                <a:solidFill>
                  <a:schemeClr val="tx2"/>
                </a:solidFill>
              </a:rPr>
              <a:t>Branch locations: Hyderabad, Vijayawada, Warangal</a:t>
            </a:r>
            <a:endParaRPr lang="en-US" sz="1400" dirty="0"/>
          </a:p>
        </p:txBody>
      </p:sp>
      <p:sp>
        <p:nvSpPr>
          <p:cNvPr id="15" name="Table card loan_officer"/>
          <p:cNvSpPr/>
          <p:nvPr/>
        </p:nvSpPr>
        <p:spPr>
          <a:xfrm>
            <a:off x="6679692" y="1371600"/>
            <a:ext cx="2395728" cy="2286000"/>
          </a:xfrm>
          <a:prstGeom prst="roundRect">
            <a:avLst>
              <a:gd name="adj" fmla="val 4800"/>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16" name="Icon circle"/>
          <p:cNvSpPr/>
          <p:nvPr/>
        </p:nvSpPr>
        <p:spPr>
          <a:xfrm>
            <a:off x="6908292" y="1600200"/>
            <a:ext cx="594360" cy="594360"/>
          </a:xfrm>
          <a:prstGeom prst="ellipse">
            <a:avLst/>
          </a:prstGeom>
          <a:solidFill>
            <a:schemeClr val="accent1"/>
          </a:solidFill>
          <a:ln w="12700">
            <a:solidFill>
              <a:schemeClr val="accent1"/>
            </a:solidFill>
            <a:prstDash val="solid"/>
          </a:ln>
        </p:spPr>
      </p:sp>
      <p:pic>
        <p:nvPicPr>
          <p:cNvPr id="17" name="Image 2" descr="loan_officer icon">    </p:cNvPr>
          <p:cNvPicPr>
            <a:picLocks noChangeAspect="1"/>
          </p:cNvPicPr>
          <p:nvPr/>
        </p:nvPicPr>
        <p:blipFill>
          <a:blip r:embed="rId3"/>
          <a:stretch>
            <a:fillRect/>
          </a:stretch>
        </p:blipFill>
        <p:spPr>
          <a:xfrm>
            <a:off x="7062826" y="1754734"/>
            <a:ext cx="285293" cy="285293"/>
          </a:xfrm>
          <a:prstGeom prst="rect">
            <a:avLst/>
          </a:prstGeom>
        </p:spPr>
      </p:pic>
      <p:sp>
        <p:nvSpPr>
          <p:cNvPr id="18" name="Text 13"/>
          <p:cNvSpPr txBox="1"/>
          <p:nvPr/>
        </p:nvSpPr>
        <p:spPr>
          <a:xfrm>
            <a:off x="6908292" y="2331720"/>
            <a:ext cx="2029968" cy="365760"/>
          </a:xfrm>
          <a:prstGeom prst="rect">
            <a:avLst/>
          </a:prstGeom>
          <a:noFill/>
          <a:ln/>
        </p:spPr>
        <p:txBody>
          <a:bodyPr wrap="square" lIns="0" tIns="0" rIns="0" bIns="0" rtlCol="0" anchor="t"/>
          <a:lstStyle/>
          <a:p>
            <a:pPr indent="0" marL="0">
              <a:buNone/>
            </a:pPr>
            <a:r>
              <a:rPr lang="en-US" sz="1800" b="1" dirty="0">
                <a:solidFill>
                  <a:schemeClr val="tx1"/>
                </a:solidFill>
              </a:rPr>
              <a:t>loan_officer</a:t>
            </a:r>
            <a:endParaRPr lang="en-US" sz="1800" dirty="0"/>
          </a:p>
        </p:txBody>
      </p:sp>
      <p:sp>
        <p:nvSpPr>
          <p:cNvPr id="19" name="Text 14"/>
          <p:cNvSpPr txBox="1"/>
          <p:nvPr/>
        </p:nvSpPr>
        <p:spPr>
          <a:xfrm>
            <a:off x="6908292" y="2743200"/>
            <a:ext cx="1984248" cy="822960"/>
          </a:xfrm>
          <a:prstGeom prst="rect">
            <a:avLst/>
          </a:prstGeom>
          <a:noFill/>
          <a:ln/>
        </p:spPr>
        <p:txBody>
          <a:bodyPr wrap="square" lIns="0" tIns="0" rIns="0" bIns="0" rtlCol="0" anchor="t"/>
          <a:lstStyle/>
          <a:p>
            <a:pPr indent="0" marL="0">
              <a:buNone/>
            </a:pPr>
            <a:r>
              <a:rPr lang="en-US" sz="1400" dirty="0">
                <a:solidFill>
                  <a:schemeClr val="tx2"/>
                </a:solidFill>
              </a:rPr>
              <a:t>Loan officers assigned to branches</a:t>
            </a:r>
            <a:endParaRPr lang="en-US" sz="1400" dirty="0"/>
          </a:p>
        </p:txBody>
      </p:sp>
      <p:sp>
        <p:nvSpPr>
          <p:cNvPr id="20" name="Table card client"/>
          <p:cNvSpPr/>
          <p:nvPr/>
        </p:nvSpPr>
        <p:spPr>
          <a:xfrm>
            <a:off x="9244584" y="1371600"/>
            <a:ext cx="2395728" cy="2286000"/>
          </a:xfrm>
          <a:prstGeom prst="roundRect">
            <a:avLst>
              <a:gd name="adj" fmla="val 4800"/>
            </a:avLst>
          </a:prstGeom>
          <a:solidFill>
            <a:schemeClr val="bg1"/>
          </a:solidFill>
          <a:ln w="25400">
            <a:solidFill>
              <a:schemeClr val="accent2"/>
            </a:solidFill>
            <a:prstDash val="solid"/>
          </a:ln>
          <a:effectLst>
            <a:outerShdw sx="100000" sy="100000" kx="0" ky="0" algn="bl" rotWithShape="0" blurRad="101600" dist="25400" dir="5400000">
              <a:srgbClr val="0B1F3A">
                <a:alpha val="12000"/>
              </a:srgbClr>
            </a:outerShdw>
          </a:effectLst>
        </p:spPr>
      </p:sp>
      <p:sp>
        <p:nvSpPr>
          <p:cNvPr id="21" name="Icon circle"/>
          <p:cNvSpPr/>
          <p:nvPr/>
        </p:nvSpPr>
        <p:spPr>
          <a:xfrm>
            <a:off x="9473184" y="1600200"/>
            <a:ext cx="594360" cy="594360"/>
          </a:xfrm>
          <a:prstGeom prst="ellipse">
            <a:avLst/>
          </a:prstGeom>
          <a:solidFill>
            <a:schemeClr val="accent1"/>
          </a:solidFill>
          <a:ln w="12700">
            <a:solidFill>
              <a:schemeClr val="accent1"/>
            </a:solidFill>
            <a:prstDash val="solid"/>
          </a:ln>
        </p:spPr>
      </p:sp>
      <p:pic>
        <p:nvPicPr>
          <p:cNvPr id="22" name="Image 3" descr="client icon">    </p:cNvPr>
          <p:cNvPicPr>
            <a:picLocks noChangeAspect="1"/>
          </p:cNvPicPr>
          <p:nvPr/>
        </p:nvPicPr>
        <p:blipFill>
          <a:blip r:embed="rId4"/>
          <a:stretch>
            <a:fillRect/>
          </a:stretch>
        </p:blipFill>
        <p:spPr>
          <a:xfrm>
            <a:off x="9627718" y="1754734"/>
            <a:ext cx="285293" cy="285293"/>
          </a:xfrm>
          <a:prstGeom prst="rect">
            <a:avLst/>
          </a:prstGeom>
        </p:spPr>
      </p:pic>
      <p:sp>
        <p:nvSpPr>
          <p:cNvPr id="23" name="Text 17"/>
          <p:cNvSpPr txBox="1"/>
          <p:nvPr/>
        </p:nvSpPr>
        <p:spPr>
          <a:xfrm>
            <a:off x="9473184" y="2331720"/>
            <a:ext cx="2029968" cy="365760"/>
          </a:xfrm>
          <a:prstGeom prst="rect">
            <a:avLst/>
          </a:prstGeom>
          <a:noFill/>
          <a:ln/>
        </p:spPr>
        <p:txBody>
          <a:bodyPr wrap="square" lIns="0" tIns="0" rIns="0" bIns="0" rtlCol="0" anchor="t"/>
          <a:lstStyle/>
          <a:p>
            <a:pPr indent="0" marL="0">
              <a:buNone/>
            </a:pPr>
            <a:r>
              <a:rPr lang="en-US" sz="1800" b="1" dirty="0">
                <a:solidFill>
                  <a:schemeClr val="tx1"/>
                </a:solidFill>
              </a:rPr>
              <a:t>client</a:t>
            </a:r>
            <a:endParaRPr lang="en-US" sz="1800" dirty="0"/>
          </a:p>
        </p:txBody>
      </p:sp>
      <p:sp>
        <p:nvSpPr>
          <p:cNvPr id="24" name="Text 18"/>
          <p:cNvSpPr txBox="1"/>
          <p:nvPr/>
        </p:nvSpPr>
        <p:spPr>
          <a:xfrm>
            <a:off x="9473184" y="2743200"/>
            <a:ext cx="1984248" cy="822960"/>
          </a:xfrm>
          <a:prstGeom prst="rect">
            <a:avLst/>
          </a:prstGeom>
          <a:noFill/>
          <a:ln/>
        </p:spPr>
        <p:txBody>
          <a:bodyPr wrap="square" lIns="0" tIns="0" rIns="0" bIns="0" rtlCol="0" anchor="t"/>
          <a:lstStyle/>
          <a:p>
            <a:pPr indent="0" marL="0">
              <a:buNone/>
            </a:pPr>
            <a:r>
              <a:rPr lang="en-US" sz="1400" dirty="0">
                <a:solidFill>
                  <a:schemeClr val="tx2"/>
                </a:solidFill>
              </a:rPr>
              <a:t>Registered clients: name, contact, ID number</a:t>
            </a:r>
            <a:endParaRPr lang="en-US" sz="1400" dirty="0"/>
          </a:p>
        </p:txBody>
      </p:sp>
      <p:sp>
        <p:nvSpPr>
          <p:cNvPr id="25" name="Shape 19"/>
          <p:cNvSpPr/>
          <p:nvPr/>
        </p:nvSpPr>
        <p:spPr>
          <a:xfrm>
            <a:off x="10405872" y="1645920"/>
            <a:ext cx="1097280" cy="274320"/>
          </a:xfrm>
          <a:prstGeom prst="roundRect">
            <a:avLst>
              <a:gd name="adj" fmla="val 50000"/>
            </a:avLst>
          </a:prstGeom>
          <a:solidFill>
            <a:schemeClr val="accent2"/>
          </a:solidFill>
          <a:ln w="12700">
            <a:solidFill>
              <a:schemeClr val="accent2"/>
            </a:solidFill>
            <a:prstDash val="solid"/>
          </a:ln>
        </p:spPr>
      </p:sp>
      <p:sp>
        <p:nvSpPr>
          <p:cNvPr id="26" name="Text 20"/>
          <p:cNvSpPr txBox="1"/>
          <p:nvPr/>
        </p:nvSpPr>
        <p:spPr>
          <a:xfrm>
            <a:off x="10405872" y="1645920"/>
            <a:ext cx="1097280" cy="274320"/>
          </a:xfrm>
          <a:prstGeom prst="rect">
            <a:avLst/>
          </a:prstGeom>
          <a:noFill/>
          <a:ln/>
        </p:spPr>
        <p:txBody>
          <a:bodyPr wrap="square" lIns="0" tIns="0" rIns="0" bIns="0" rtlCol="0" anchor="ctr"/>
          <a:lstStyle/>
          <a:p>
            <a:pPr algn="ctr" indent="0" marL="0">
              <a:buNone/>
            </a:pPr>
            <a:r>
              <a:rPr lang="en-US" sz="1100" b="1" dirty="0">
                <a:solidFill>
                  <a:schemeClr val="tx1"/>
                </a:solidFill>
              </a:rPr>
              <a:t>Used in UI</a:t>
            </a:r>
            <a:endParaRPr lang="en-US" sz="1100" dirty="0"/>
          </a:p>
        </p:txBody>
      </p:sp>
      <p:sp>
        <p:nvSpPr>
          <p:cNvPr id="27" name="Table card loan"/>
          <p:cNvSpPr/>
          <p:nvPr/>
        </p:nvSpPr>
        <p:spPr>
          <a:xfrm>
            <a:off x="4114800" y="3840480"/>
            <a:ext cx="2395728" cy="2286000"/>
          </a:xfrm>
          <a:prstGeom prst="roundRect">
            <a:avLst>
              <a:gd name="adj" fmla="val 4800"/>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28" name="Icon circle"/>
          <p:cNvSpPr/>
          <p:nvPr/>
        </p:nvSpPr>
        <p:spPr>
          <a:xfrm>
            <a:off x="4343400" y="4069080"/>
            <a:ext cx="594360" cy="594360"/>
          </a:xfrm>
          <a:prstGeom prst="ellipse">
            <a:avLst/>
          </a:prstGeom>
          <a:solidFill>
            <a:schemeClr val="accent1"/>
          </a:solidFill>
          <a:ln w="12700">
            <a:solidFill>
              <a:schemeClr val="accent1"/>
            </a:solidFill>
            <a:prstDash val="solid"/>
          </a:ln>
        </p:spPr>
      </p:sp>
      <p:pic>
        <p:nvPicPr>
          <p:cNvPr id="29" name="Image 4" descr="loan icon">    </p:cNvPr>
          <p:cNvPicPr>
            <a:picLocks noChangeAspect="1"/>
          </p:cNvPicPr>
          <p:nvPr/>
        </p:nvPicPr>
        <p:blipFill>
          <a:blip r:embed="rId5"/>
          <a:stretch>
            <a:fillRect/>
          </a:stretch>
        </p:blipFill>
        <p:spPr>
          <a:xfrm>
            <a:off x="4497934" y="4223614"/>
            <a:ext cx="285293" cy="285293"/>
          </a:xfrm>
          <a:prstGeom prst="rect">
            <a:avLst/>
          </a:prstGeom>
        </p:spPr>
      </p:pic>
      <p:sp>
        <p:nvSpPr>
          <p:cNvPr id="30" name="Text 23"/>
          <p:cNvSpPr txBox="1"/>
          <p:nvPr/>
        </p:nvSpPr>
        <p:spPr>
          <a:xfrm>
            <a:off x="4343400" y="4800600"/>
            <a:ext cx="2029968" cy="365760"/>
          </a:xfrm>
          <a:prstGeom prst="rect">
            <a:avLst/>
          </a:prstGeom>
          <a:noFill/>
          <a:ln/>
        </p:spPr>
        <p:txBody>
          <a:bodyPr wrap="square" lIns="0" tIns="0" rIns="0" bIns="0" rtlCol="0" anchor="t"/>
          <a:lstStyle/>
          <a:p>
            <a:pPr indent="0" marL="0">
              <a:buNone/>
            </a:pPr>
            <a:r>
              <a:rPr lang="en-US" sz="1800" b="1" dirty="0">
                <a:solidFill>
                  <a:schemeClr val="tx1"/>
                </a:solidFill>
              </a:rPr>
              <a:t>loan</a:t>
            </a:r>
            <a:endParaRPr lang="en-US" sz="1800" dirty="0"/>
          </a:p>
        </p:txBody>
      </p:sp>
      <p:sp>
        <p:nvSpPr>
          <p:cNvPr id="31" name="Text 24"/>
          <p:cNvSpPr txBox="1"/>
          <p:nvPr/>
        </p:nvSpPr>
        <p:spPr>
          <a:xfrm>
            <a:off x="4343400" y="5212080"/>
            <a:ext cx="1984248" cy="822960"/>
          </a:xfrm>
          <a:prstGeom prst="rect">
            <a:avLst/>
          </a:prstGeom>
          <a:noFill/>
          <a:ln/>
        </p:spPr>
        <p:txBody>
          <a:bodyPr wrap="square" lIns="0" tIns="0" rIns="0" bIns="0" rtlCol="0" anchor="t"/>
          <a:lstStyle/>
          <a:p>
            <a:pPr indent="0" marL="0">
              <a:buNone/>
            </a:pPr>
            <a:r>
              <a:rPr lang="en-US" sz="1400" dirty="0">
                <a:solidFill>
                  <a:schemeClr val="tx2"/>
                </a:solidFill>
              </a:rPr>
              <a:t>Loans issued to clients</a:t>
            </a:r>
            <a:endParaRPr lang="en-US" sz="1400" dirty="0"/>
          </a:p>
        </p:txBody>
      </p:sp>
      <p:sp>
        <p:nvSpPr>
          <p:cNvPr id="32" name="Table card repayment"/>
          <p:cNvSpPr/>
          <p:nvPr/>
        </p:nvSpPr>
        <p:spPr>
          <a:xfrm>
            <a:off x="6679692" y="3840480"/>
            <a:ext cx="2395728" cy="2286000"/>
          </a:xfrm>
          <a:prstGeom prst="roundRect">
            <a:avLst>
              <a:gd name="adj" fmla="val 4800"/>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33" name="Icon circle"/>
          <p:cNvSpPr/>
          <p:nvPr/>
        </p:nvSpPr>
        <p:spPr>
          <a:xfrm>
            <a:off x="6908292" y="4069080"/>
            <a:ext cx="594360" cy="594360"/>
          </a:xfrm>
          <a:prstGeom prst="ellipse">
            <a:avLst/>
          </a:prstGeom>
          <a:solidFill>
            <a:schemeClr val="accent1"/>
          </a:solidFill>
          <a:ln w="12700">
            <a:solidFill>
              <a:schemeClr val="accent1"/>
            </a:solidFill>
            <a:prstDash val="solid"/>
          </a:ln>
        </p:spPr>
      </p:sp>
      <p:pic>
        <p:nvPicPr>
          <p:cNvPr id="34" name="Image 5" descr="repayment icon">    </p:cNvPr>
          <p:cNvPicPr>
            <a:picLocks noChangeAspect="1"/>
          </p:cNvPicPr>
          <p:nvPr/>
        </p:nvPicPr>
        <p:blipFill>
          <a:blip r:embed="rId6"/>
          <a:stretch>
            <a:fillRect/>
          </a:stretch>
        </p:blipFill>
        <p:spPr>
          <a:xfrm>
            <a:off x="7062826" y="4223614"/>
            <a:ext cx="285293" cy="285293"/>
          </a:xfrm>
          <a:prstGeom prst="rect">
            <a:avLst/>
          </a:prstGeom>
        </p:spPr>
      </p:pic>
      <p:sp>
        <p:nvSpPr>
          <p:cNvPr id="35" name="Text 27"/>
          <p:cNvSpPr txBox="1"/>
          <p:nvPr/>
        </p:nvSpPr>
        <p:spPr>
          <a:xfrm>
            <a:off x="6908292" y="4800600"/>
            <a:ext cx="2029968" cy="365760"/>
          </a:xfrm>
          <a:prstGeom prst="rect">
            <a:avLst/>
          </a:prstGeom>
          <a:noFill/>
          <a:ln/>
        </p:spPr>
        <p:txBody>
          <a:bodyPr wrap="square" lIns="0" tIns="0" rIns="0" bIns="0" rtlCol="0" anchor="t"/>
          <a:lstStyle/>
          <a:p>
            <a:pPr indent="0" marL="0">
              <a:buNone/>
            </a:pPr>
            <a:r>
              <a:rPr lang="en-US" sz="1800" b="1" dirty="0">
                <a:solidFill>
                  <a:schemeClr val="tx1"/>
                </a:solidFill>
              </a:rPr>
              <a:t>repayment</a:t>
            </a:r>
            <a:endParaRPr lang="en-US" sz="1800" dirty="0"/>
          </a:p>
        </p:txBody>
      </p:sp>
      <p:sp>
        <p:nvSpPr>
          <p:cNvPr id="36" name="Text 28"/>
          <p:cNvSpPr txBox="1"/>
          <p:nvPr/>
        </p:nvSpPr>
        <p:spPr>
          <a:xfrm>
            <a:off x="6908292" y="5212080"/>
            <a:ext cx="1984248" cy="822960"/>
          </a:xfrm>
          <a:prstGeom prst="rect">
            <a:avLst/>
          </a:prstGeom>
          <a:noFill/>
          <a:ln/>
        </p:spPr>
        <p:txBody>
          <a:bodyPr wrap="square" lIns="0" tIns="0" rIns="0" bIns="0" rtlCol="0" anchor="t"/>
          <a:lstStyle/>
          <a:p>
            <a:pPr indent="0" marL="0">
              <a:buNone/>
            </a:pPr>
            <a:r>
              <a:rPr lang="en-US" sz="1400" dirty="0">
                <a:solidFill>
                  <a:schemeClr val="tx2"/>
                </a:solidFill>
              </a:rPr>
              <a:t>Repayment records for loans</a:t>
            </a:r>
            <a:endParaRPr lang="en-US" sz="1400" dirty="0"/>
          </a:p>
        </p:txBody>
      </p:sp>
      <p:sp>
        <p:nvSpPr>
          <p:cNvPr id="37" name="Table card transaction_log"/>
          <p:cNvSpPr/>
          <p:nvPr/>
        </p:nvSpPr>
        <p:spPr>
          <a:xfrm>
            <a:off x="9244584" y="3840480"/>
            <a:ext cx="2395728" cy="2286000"/>
          </a:xfrm>
          <a:prstGeom prst="roundRect">
            <a:avLst>
              <a:gd name="adj" fmla="val 4800"/>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38" name="Icon circle"/>
          <p:cNvSpPr/>
          <p:nvPr/>
        </p:nvSpPr>
        <p:spPr>
          <a:xfrm>
            <a:off x="9473184" y="4069080"/>
            <a:ext cx="594360" cy="594360"/>
          </a:xfrm>
          <a:prstGeom prst="ellipse">
            <a:avLst/>
          </a:prstGeom>
          <a:solidFill>
            <a:schemeClr val="accent1"/>
          </a:solidFill>
          <a:ln w="12700">
            <a:solidFill>
              <a:schemeClr val="accent1"/>
            </a:solidFill>
            <a:prstDash val="solid"/>
          </a:ln>
        </p:spPr>
      </p:sp>
      <p:pic>
        <p:nvPicPr>
          <p:cNvPr id="39" name="Image 6" descr="transaction_log icon">    </p:cNvPr>
          <p:cNvPicPr>
            <a:picLocks noChangeAspect="1"/>
          </p:cNvPicPr>
          <p:nvPr/>
        </p:nvPicPr>
        <p:blipFill>
          <a:blip r:embed="rId7"/>
          <a:stretch>
            <a:fillRect/>
          </a:stretch>
        </p:blipFill>
        <p:spPr>
          <a:xfrm>
            <a:off x="9627718" y="4223614"/>
            <a:ext cx="285293" cy="285293"/>
          </a:xfrm>
          <a:prstGeom prst="rect">
            <a:avLst/>
          </a:prstGeom>
        </p:spPr>
      </p:pic>
      <p:sp>
        <p:nvSpPr>
          <p:cNvPr id="40" name="Text 31"/>
          <p:cNvSpPr txBox="1"/>
          <p:nvPr/>
        </p:nvSpPr>
        <p:spPr>
          <a:xfrm>
            <a:off x="9473184" y="4800600"/>
            <a:ext cx="2029968" cy="365760"/>
          </a:xfrm>
          <a:prstGeom prst="rect">
            <a:avLst/>
          </a:prstGeom>
          <a:noFill/>
          <a:ln/>
        </p:spPr>
        <p:txBody>
          <a:bodyPr wrap="square" lIns="0" tIns="0" rIns="0" bIns="0" rtlCol="0" anchor="t"/>
          <a:lstStyle/>
          <a:p>
            <a:pPr indent="0" marL="0">
              <a:buNone/>
            </a:pPr>
            <a:r>
              <a:rPr lang="en-US" sz="1800" b="1" dirty="0">
                <a:solidFill>
                  <a:schemeClr val="tx1"/>
                </a:solidFill>
              </a:rPr>
              <a:t>transaction_log</a:t>
            </a:r>
            <a:endParaRPr lang="en-US" sz="1800" dirty="0"/>
          </a:p>
        </p:txBody>
      </p:sp>
      <p:sp>
        <p:nvSpPr>
          <p:cNvPr id="41" name="Text 32"/>
          <p:cNvSpPr txBox="1"/>
          <p:nvPr/>
        </p:nvSpPr>
        <p:spPr>
          <a:xfrm>
            <a:off x="9473184" y="5212080"/>
            <a:ext cx="1984248" cy="822960"/>
          </a:xfrm>
          <a:prstGeom prst="rect">
            <a:avLst/>
          </a:prstGeom>
          <a:noFill/>
          <a:ln/>
        </p:spPr>
        <p:txBody>
          <a:bodyPr wrap="square" lIns="0" tIns="0" rIns="0" bIns="0" rtlCol="0" anchor="t"/>
          <a:lstStyle/>
          <a:p>
            <a:pPr indent="0" marL="0">
              <a:buNone/>
            </a:pPr>
            <a:r>
              <a:rPr lang="en-US" sz="1400" dirty="0">
                <a:solidFill>
                  <a:schemeClr val="tx2"/>
                </a:solidFill>
              </a:rPr>
              <a:t>Transaction records linked to repayments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User Interface – Working Prototype</a:t>
            </a:r>
            <a:endParaRPr lang="en-US" sz="3200" dirty="0"/>
          </a:p>
        </p:txBody>
      </p:sp>
      <p:sp>
        <p:nvSpPr>
          <p:cNvPr id="3" name="Screenshot placeholder"/>
          <p:cNvSpPr/>
          <p:nvPr/>
        </p:nvSpPr>
        <p:spPr>
          <a:xfrm>
            <a:off x="548640" y="1371600"/>
            <a:ext cx="6949440" cy="4846320"/>
          </a:xfrm>
          <a:prstGeom prst="roundRect">
            <a:avLst>
              <a:gd name="adj" fmla="val 1887"/>
            </a:avLst>
          </a:prstGeom>
          <a:solidFill>
            <a:schemeClr val="bg1"/>
          </a:solidFill>
          <a:ln w="25400">
            <a:solidFill>
              <a:schemeClr val="accent2"/>
            </a:solidFill>
            <a:prstDash val="dash"/>
          </a:ln>
        </p:spPr>
      </p:sp>
      <p:pic>
        <p:nvPicPr>
          <p:cNvPr id="4" name="Image 0" descr="Screenshot placeholder icon">    </p:cNvPr>
          <p:cNvPicPr>
            <a:picLocks noChangeAspect="1"/>
          </p:cNvPicPr>
          <p:nvPr/>
        </p:nvPicPr>
        <p:blipFill>
          <a:blip r:embed="rId1"/>
          <a:stretch>
            <a:fillRect/>
          </a:stretch>
        </p:blipFill>
        <p:spPr>
          <a:xfrm>
            <a:off x="3703320" y="3063240"/>
            <a:ext cx="640080" cy="640080"/>
          </a:xfrm>
          <a:prstGeom prst="rect">
            <a:avLst/>
          </a:prstGeom>
        </p:spPr>
      </p:pic>
      <p:sp>
        <p:nvSpPr>
          <p:cNvPr id="5" name="Screenshot label"/>
          <p:cNvSpPr txBox="1"/>
          <p:nvPr/>
        </p:nvSpPr>
        <p:spPr>
          <a:xfrm>
            <a:off x="731520" y="3794760"/>
            <a:ext cx="6583680" cy="731520"/>
          </a:xfrm>
          <a:prstGeom prst="rect">
            <a:avLst/>
          </a:prstGeom>
          <a:noFill/>
          <a:ln/>
        </p:spPr>
        <p:txBody>
          <a:bodyPr wrap="square" lIns="0" tIns="0" rIns="0" bIns="0" rtlCol="0" anchor="t"/>
          <a:lstStyle/>
          <a:p>
            <a:pPr algn="ctr" indent="0" marL="0">
              <a:buNone/>
            </a:pPr>
            <a:r>
              <a:rPr lang="en-US" sz="1400" b="1" dirty="0">
                <a:solidFill>
                  <a:schemeClr val="tx2"/>
                </a:solidFill>
              </a:rPr>
              <a:t>[INSERT SCREENSHOT OF MAIN UI HERE]</a:t>
            </a:r>
            <a:endParaRPr lang="en-US" sz="1400" dirty="0"/>
          </a:p>
          <a:p>
            <a:pPr algn="ctr" indent="0" marL="0">
              <a:buNone/>
            </a:pPr>
            <a:r>
              <a:rPr lang="en-US" sz="1200" dirty="0">
                <a:solidFill>
                  <a:srgbClr val="5B6B80"/>
                </a:solidFill>
              </a:rPr>
              <a:t>Replace with your screenshot</a:t>
            </a:r>
            <a:endParaRPr lang="en-US" sz="1400" dirty="0"/>
          </a:p>
        </p:txBody>
      </p:sp>
      <p:sp>
        <p:nvSpPr>
          <p:cNvPr id="6" name="Number badge"/>
          <p:cNvSpPr/>
          <p:nvPr/>
        </p:nvSpPr>
        <p:spPr>
          <a:xfrm>
            <a:off x="7818120" y="146304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81812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458200" y="1371600"/>
            <a:ext cx="3200400" cy="274320"/>
          </a:xfrm>
          <a:prstGeom prst="rect">
            <a:avLst/>
          </a:prstGeom>
          <a:noFill/>
          <a:ln/>
        </p:spPr>
        <p:txBody>
          <a:bodyPr wrap="square" lIns="0" tIns="0" rIns="0" bIns="0" rtlCol="0" anchor="t"/>
          <a:lstStyle/>
          <a:p>
            <a:pPr indent="0" marL="0">
              <a:buNone/>
            </a:pPr>
            <a:r>
              <a:rPr lang="en-US" sz="1500" b="1" dirty="0">
                <a:solidFill>
                  <a:schemeClr val="tx1"/>
                </a:solidFill>
              </a:rPr>
              <a:t>System header</a:t>
            </a:r>
            <a:endParaRPr lang="en-US" sz="1500" dirty="0"/>
          </a:p>
        </p:txBody>
      </p:sp>
      <p:sp>
        <p:nvSpPr>
          <p:cNvPr id="9" name="Text 6"/>
          <p:cNvSpPr txBox="1"/>
          <p:nvPr/>
        </p:nvSpPr>
        <p:spPr>
          <a:xfrm>
            <a:off x="8458200" y="1664208"/>
            <a:ext cx="3200400" cy="457200"/>
          </a:xfrm>
          <a:prstGeom prst="rect">
            <a:avLst/>
          </a:prstGeom>
          <a:noFill/>
          <a:ln/>
        </p:spPr>
        <p:txBody>
          <a:bodyPr wrap="square" lIns="0" tIns="0" rIns="0" bIns="0" rtlCol="0" anchor="t"/>
          <a:lstStyle/>
          <a:p>
            <a:pPr indent="0" marL="0">
              <a:buNone/>
            </a:pPr>
            <a:r>
              <a:rPr lang="en-US" sz="1300" dirty="0">
                <a:solidFill>
                  <a:schemeClr val="tx2"/>
                </a:solidFill>
              </a:rPr>
              <a:t>Microfinance Loan &amp; Repayment Management System</a:t>
            </a:r>
            <a:endParaRPr lang="en-US" sz="1300" dirty="0"/>
          </a:p>
        </p:txBody>
      </p:sp>
      <p:sp>
        <p:nvSpPr>
          <p:cNvPr id="10" name="Number badge"/>
          <p:cNvSpPr/>
          <p:nvPr/>
        </p:nvSpPr>
        <p:spPr>
          <a:xfrm>
            <a:off x="7818120" y="2267712"/>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7818120" y="2267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8458200" y="2176272"/>
            <a:ext cx="3200400" cy="274320"/>
          </a:xfrm>
          <a:prstGeom prst="rect">
            <a:avLst/>
          </a:prstGeom>
          <a:noFill/>
          <a:ln/>
        </p:spPr>
        <p:txBody>
          <a:bodyPr wrap="square" lIns="0" tIns="0" rIns="0" bIns="0" rtlCol="0" anchor="t"/>
          <a:lstStyle/>
          <a:p>
            <a:pPr indent="0" marL="0">
              <a:buNone/>
            </a:pPr>
            <a:r>
              <a:rPr lang="en-US" sz="1500" b="1" dirty="0">
                <a:solidFill>
                  <a:schemeClr val="tx1"/>
                </a:solidFill>
              </a:rPr>
              <a:t>Database &amp; system status</a:t>
            </a:r>
            <a:endParaRPr lang="en-US" sz="1500" dirty="0"/>
          </a:p>
        </p:txBody>
      </p:sp>
      <p:sp>
        <p:nvSpPr>
          <p:cNvPr id="13" name="Text 10"/>
          <p:cNvSpPr txBox="1"/>
          <p:nvPr/>
        </p:nvSpPr>
        <p:spPr>
          <a:xfrm>
            <a:off x="8458200" y="2468880"/>
            <a:ext cx="3200400" cy="457200"/>
          </a:xfrm>
          <a:prstGeom prst="rect">
            <a:avLst/>
          </a:prstGeom>
          <a:noFill/>
          <a:ln/>
        </p:spPr>
        <p:txBody>
          <a:bodyPr wrap="square" lIns="0" tIns="0" rIns="0" bIns="0" rtlCol="0" anchor="t"/>
          <a:lstStyle/>
          <a:p>
            <a:pPr indent="0" marL="0">
              <a:buNone/>
            </a:pPr>
            <a:r>
              <a:rPr lang="en-US" sz="1300" dirty="0">
                <a:solidFill>
                  <a:schemeClr val="tx2"/>
                </a:solidFill>
              </a:rPr>
              <a:t>Database shows MySQL; system shows Connected</a:t>
            </a:r>
            <a:endParaRPr lang="en-US" sz="1300" dirty="0"/>
          </a:p>
        </p:txBody>
      </p:sp>
      <p:sp>
        <p:nvSpPr>
          <p:cNvPr id="14" name="Number badge"/>
          <p:cNvSpPr/>
          <p:nvPr/>
        </p:nvSpPr>
        <p:spPr>
          <a:xfrm>
            <a:off x="7818120" y="3072384"/>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7818120" y="30723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8458200" y="2980944"/>
            <a:ext cx="3200400" cy="274320"/>
          </a:xfrm>
          <a:prstGeom prst="rect">
            <a:avLst/>
          </a:prstGeom>
          <a:noFill/>
          <a:ln/>
        </p:spPr>
        <p:txBody>
          <a:bodyPr wrap="square" lIns="0" tIns="0" rIns="0" bIns="0" rtlCol="0" anchor="t"/>
          <a:lstStyle/>
          <a:p>
            <a:pPr indent="0" marL="0">
              <a:buNone/>
            </a:pPr>
            <a:r>
              <a:rPr lang="en-US" sz="1500" b="1" dirty="0">
                <a:solidFill>
                  <a:schemeClr val="tx1"/>
                </a:solidFill>
              </a:rPr>
              <a:t>Total Clients card</a:t>
            </a:r>
            <a:endParaRPr lang="en-US" sz="1500" dirty="0"/>
          </a:p>
        </p:txBody>
      </p:sp>
      <p:sp>
        <p:nvSpPr>
          <p:cNvPr id="17" name="Text 14"/>
          <p:cNvSpPr txBox="1"/>
          <p:nvPr/>
        </p:nvSpPr>
        <p:spPr>
          <a:xfrm>
            <a:off x="8458200" y="3273552"/>
            <a:ext cx="3200400" cy="457200"/>
          </a:xfrm>
          <a:prstGeom prst="rect">
            <a:avLst/>
          </a:prstGeom>
          <a:noFill/>
          <a:ln/>
        </p:spPr>
        <p:txBody>
          <a:bodyPr wrap="square" lIns="0" tIns="0" rIns="0" bIns="0" rtlCol="0" anchor="t"/>
          <a:lstStyle/>
          <a:p>
            <a:pPr indent="0" marL="0">
              <a:buNone/>
            </a:pPr>
            <a:r>
              <a:rPr lang="en-US" sz="1300" dirty="0">
                <a:solidFill>
                  <a:schemeClr val="tx2"/>
                </a:solidFill>
              </a:rPr>
              <a:t>Shows the number of clients in the database</a:t>
            </a:r>
            <a:endParaRPr lang="en-US" sz="1300" dirty="0"/>
          </a:p>
        </p:txBody>
      </p:sp>
      <p:sp>
        <p:nvSpPr>
          <p:cNvPr id="18" name="Number badge"/>
          <p:cNvSpPr/>
          <p:nvPr/>
        </p:nvSpPr>
        <p:spPr>
          <a:xfrm>
            <a:off x="7818120" y="3877056"/>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781812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8458200" y="3785616"/>
            <a:ext cx="3200400" cy="274320"/>
          </a:xfrm>
          <a:prstGeom prst="rect">
            <a:avLst/>
          </a:prstGeom>
          <a:noFill/>
          <a:ln/>
        </p:spPr>
        <p:txBody>
          <a:bodyPr wrap="square" lIns="0" tIns="0" rIns="0" bIns="0" rtlCol="0" anchor="t"/>
          <a:lstStyle/>
          <a:p>
            <a:pPr indent="0" marL="0">
              <a:buNone/>
            </a:pPr>
            <a:r>
              <a:rPr lang="en-US" sz="1500" b="1" dirty="0">
                <a:solidFill>
                  <a:schemeClr val="tx1"/>
                </a:solidFill>
              </a:rPr>
              <a:t>Register New Client form</a:t>
            </a:r>
            <a:endParaRPr lang="en-US" sz="1500" dirty="0"/>
          </a:p>
        </p:txBody>
      </p:sp>
      <p:sp>
        <p:nvSpPr>
          <p:cNvPr id="21" name="Text 18"/>
          <p:cNvSpPr txBox="1"/>
          <p:nvPr/>
        </p:nvSpPr>
        <p:spPr>
          <a:xfrm>
            <a:off x="8458200" y="4078224"/>
            <a:ext cx="3200400" cy="457200"/>
          </a:xfrm>
          <a:prstGeom prst="rect">
            <a:avLst/>
          </a:prstGeom>
          <a:noFill/>
          <a:ln/>
        </p:spPr>
        <p:txBody>
          <a:bodyPr wrap="square" lIns="0" tIns="0" rIns="0" bIns="0" rtlCol="0" anchor="t"/>
          <a:lstStyle/>
          <a:p>
            <a:pPr indent="0" marL="0">
              <a:buNone/>
            </a:pPr>
            <a:r>
              <a:rPr lang="en-US" sz="1300" dirty="0">
                <a:solidFill>
                  <a:schemeClr val="tx2"/>
                </a:solidFill>
              </a:rPr>
              <a:t>Client Name, Contact Number, ID Number, + Add Client</a:t>
            </a:r>
            <a:endParaRPr lang="en-US" sz="1300" dirty="0"/>
          </a:p>
        </p:txBody>
      </p:sp>
      <p:sp>
        <p:nvSpPr>
          <p:cNvPr id="22" name="Number badge"/>
          <p:cNvSpPr/>
          <p:nvPr/>
        </p:nvSpPr>
        <p:spPr>
          <a:xfrm>
            <a:off x="7818120" y="4681728"/>
            <a:ext cx="457200" cy="457200"/>
          </a:xfrm>
          <a:prstGeom prst="ellipse">
            <a:avLst/>
          </a:prstGeom>
          <a:solidFill>
            <a:schemeClr val="accent1"/>
          </a:solidFill>
          <a:ln w="12700">
            <a:solidFill>
              <a:schemeClr val="accent1"/>
            </a:solidFill>
            <a:prstDash val="solid"/>
          </a:ln>
        </p:spPr>
      </p:sp>
      <p:sp>
        <p:nvSpPr>
          <p:cNvPr id="23" name="Text 20"/>
          <p:cNvSpPr txBox="1"/>
          <p:nvPr/>
        </p:nvSpPr>
        <p:spPr>
          <a:xfrm>
            <a:off x="7818120" y="46817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1"/>
          <p:cNvSpPr txBox="1"/>
          <p:nvPr/>
        </p:nvSpPr>
        <p:spPr>
          <a:xfrm>
            <a:off x="8458200" y="4590288"/>
            <a:ext cx="3200400" cy="274320"/>
          </a:xfrm>
          <a:prstGeom prst="rect">
            <a:avLst/>
          </a:prstGeom>
          <a:noFill/>
          <a:ln/>
        </p:spPr>
        <p:txBody>
          <a:bodyPr wrap="square" lIns="0" tIns="0" rIns="0" bIns="0" rtlCol="0" anchor="t"/>
          <a:lstStyle/>
          <a:p>
            <a:pPr indent="0" marL="0">
              <a:buNone/>
            </a:pPr>
            <a:r>
              <a:rPr lang="en-US" sz="1500" b="1" dirty="0">
                <a:solidFill>
                  <a:schemeClr val="tx1"/>
                </a:solidFill>
              </a:rPr>
              <a:t>Client records table</a:t>
            </a:r>
            <a:endParaRPr lang="en-US" sz="1500" dirty="0"/>
          </a:p>
        </p:txBody>
      </p:sp>
      <p:sp>
        <p:nvSpPr>
          <p:cNvPr id="25" name="Text 22"/>
          <p:cNvSpPr txBox="1"/>
          <p:nvPr/>
        </p:nvSpPr>
        <p:spPr>
          <a:xfrm>
            <a:off x="8458200" y="4882896"/>
            <a:ext cx="3200400" cy="457200"/>
          </a:xfrm>
          <a:prstGeom prst="rect">
            <a:avLst/>
          </a:prstGeom>
          <a:noFill/>
          <a:ln/>
        </p:spPr>
        <p:txBody>
          <a:bodyPr wrap="square" lIns="0" tIns="0" rIns="0" bIns="0" rtlCol="0" anchor="t"/>
          <a:lstStyle/>
          <a:p>
            <a:pPr indent="0" marL="0">
              <a:buNone/>
            </a:pPr>
            <a:r>
              <a:rPr lang="en-US" sz="1300" dirty="0">
                <a:solidFill>
                  <a:schemeClr val="tx2"/>
                </a:solidFill>
              </a:rPr>
              <a:t>Rows fetched from MySQL and displayed</a:t>
            </a:r>
            <a:endParaRPr lang="en-US" sz="1300" dirty="0"/>
          </a:p>
        </p:txBody>
      </p:sp>
      <p:sp>
        <p:nvSpPr>
          <p:cNvPr id="26" name="Number badge"/>
          <p:cNvSpPr/>
          <p:nvPr/>
        </p:nvSpPr>
        <p:spPr>
          <a:xfrm>
            <a:off x="7818120" y="5486400"/>
            <a:ext cx="457200" cy="457200"/>
          </a:xfrm>
          <a:prstGeom prst="ellipse">
            <a:avLst/>
          </a:prstGeom>
          <a:solidFill>
            <a:schemeClr val="accent1"/>
          </a:solidFill>
          <a:ln w="12700">
            <a:solidFill>
              <a:schemeClr val="accent1"/>
            </a:solidFill>
            <a:prstDash val="solid"/>
          </a:ln>
        </p:spPr>
      </p:sp>
      <p:sp>
        <p:nvSpPr>
          <p:cNvPr id="27" name="Text 24"/>
          <p:cNvSpPr txBox="1"/>
          <p:nvPr/>
        </p:nvSpPr>
        <p:spPr>
          <a:xfrm>
            <a:off x="7818120" y="5486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8" name="Text 25"/>
          <p:cNvSpPr txBox="1"/>
          <p:nvPr/>
        </p:nvSpPr>
        <p:spPr>
          <a:xfrm>
            <a:off x="8458200" y="5394960"/>
            <a:ext cx="3200400" cy="274320"/>
          </a:xfrm>
          <a:prstGeom prst="rect">
            <a:avLst/>
          </a:prstGeom>
          <a:noFill/>
          <a:ln/>
        </p:spPr>
        <p:txBody>
          <a:bodyPr wrap="square" lIns="0" tIns="0" rIns="0" bIns="0" rtlCol="0" anchor="t"/>
          <a:lstStyle/>
          <a:p>
            <a:pPr indent="0" marL="0">
              <a:buNone/>
            </a:pPr>
            <a:r>
              <a:rPr lang="en-US" sz="1500" b="1" dirty="0">
                <a:solidFill>
                  <a:schemeClr val="tx1"/>
                </a:solidFill>
              </a:rPr>
              <a:t>Delete buttons</a:t>
            </a:r>
            <a:endParaRPr lang="en-US" sz="1500" dirty="0"/>
          </a:p>
        </p:txBody>
      </p:sp>
      <p:sp>
        <p:nvSpPr>
          <p:cNvPr id="29" name="Text 26"/>
          <p:cNvSpPr txBox="1"/>
          <p:nvPr/>
        </p:nvSpPr>
        <p:spPr>
          <a:xfrm>
            <a:off x="8458200" y="5687568"/>
            <a:ext cx="3200400" cy="457200"/>
          </a:xfrm>
          <a:prstGeom prst="rect">
            <a:avLst/>
          </a:prstGeom>
          <a:noFill/>
          <a:ln/>
        </p:spPr>
        <p:txBody>
          <a:bodyPr wrap="square" lIns="0" tIns="0" rIns="0" bIns="0" rtlCol="0" anchor="t"/>
          <a:lstStyle/>
          <a:p>
            <a:pPr indent="0" marL="0">
              <a:buNone/>
            </a:pPr>
            <a:r>
              <a:rPr lang="en-US" sz="1300" dirty="0">
                <a:solidFill>
                  <a:schemeClr val="tx2"/>
                </a:solidFill>
              </a:rPr>
              <a:t>One button per client row</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INSERT Operation – Add Client</a:t>
            </a:r>
            <a:endParaRPr lang="en-US" sz="3200" dirty="0"/>
          </a:p>
        </p:txBody>
      </p:sp>
      <p:sp>
        <p:nvSpPr>
          <p:cNvPr id="3" name="Step connector"/>
          <p:cNvSpPr/>
          <p:nvPr/>
        </p:nvSpPr>
        <p:spPr>
          <a:xfrm>
            <a:off x="777240" y="1627632"/>
            <a:ext cx="0" cy="3968496"/>
          </a:xfrm>
          <a:prstGeom prst="line">
            <a:avLst/>
          </a:prstGeom>
          <a:noFill/>
          <a:ln w="25400">
            <a:solidFill>
              <a:schemeClr val="accent6"/>
            </a:solidFill>
            <a:prstDash val="solid"/>
          </a:ln>
        </p:spPr>
      </p:sp>
      <p:sp>
        <p:nvSpPr>
          <p:cNvPr id="4" name="Step badge"/>
          <p:cNvSpPr/>
          <p:nvPr/>
        </p:nvSpPr>
        <p:spPr>
          <a:xfrm>
            <a:off x="548640" y="1371600"/>
            <a:ext cx="457200" cy="457200"/>
          </a:xfrm>
          <a:prstGeom prst="ellipse">
            <a:avLst/>
          </a:prstGeom>
          <a:solidFill>
            <a:schemeClr val="accent1"/>
          </a:solidFill>
          <a:ln w="25400">
            <a:solidFill>
              <a:schemeClr val="bg2"/>
            </a:solidFill>
            <a:prstDash val="solid"/>
          </a:ln>
        </p:spPr>
      </p:sp>
      <p:sp>
        <p:nvSpPr>
          <p:cNvPr id="5" name="Text 3"/>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234440" y="1371600"/>
            <a:ext cx="4206240" cy="457200"/>
          </a:xfrm>
          <a:prstGeom prst="rect">
            <a:avLst/>
          </a:prstGeom>
          <a:noFill/>
          <a:ln/>
        </p:spPr>
        <p:txBody>
          <a:bodyPr wrap="square" lIns="0" tIns="0" rIns="0" bIns="0" rtlCol="0" anchor="ctr"/>
          <a:lstStyle/>
          <a:p>
            <a:pPr indent="0" marL="0">
              <a:buNone/>
            </a:pPr>
            <a:r>
              <a:rPr lang="en-US" sz="1500" dirty="0">
                <a:solidFill>
                  <a:schemeClr val="tx1"/>
                </a:solidFill>
              </a:rPr>
              <a:t>User fills Name, Contact Number, ID Number</a:t>
            </a:r>
            <a:endParaRPr lang="en-US" sz="1500" dirty="0"/>
          </a:p>
        </p:txBody>
      </p:sp>
      <p:sp>
        <p:nvSpPr>
          <p:cNvPr id="7" name="Step badge"/>
          <p:cNvSpPr/>
          <p:nvPr/>
        </p:nvSpPr>
        <p:spPr>
          <a:xfrm>
            <a:off x="548640" y="1938528"/>
            <a:ext cx="457200" cy="457200"/>
          </a:xfrm>
          <a:prstGeom prst="ellipse">
            <a:avLst/>
          </a:prstGeom>
          <a:solidFill>
            <a:schemeClr val="accent1"/>
          </a:solidFill>
          <a:ln w="25400">
            <a:solidFill>
              <a:schemeClr val="bg2"/>
            </a:solidFill>
            <a:prstDash val="solid"/>
          </a:ln>
        </p:spPr>
      </p:sp>
      <p:sp>
        <p:nvSpPr>
          <p:cNvPr id="8" name="Text 6"/>
          <p:cNvSpPr txBox="1"/>
          <p:nvPr/>
        </p:nvSpPr>
        <p:spPr>
          <a:xfrm>
            <a:off x="548640" y="193852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234440" y="1938528"/>
            <a:ext cx="4206240" cy="457200"/>
          </a:xfrm>
          <a:prstGeom prst="rect">
            <a:avLst/>
          </a:prstGeom>
          <a:noFill/>
          <a:ln/>
        </p:spPr>
        <p:txBody>
          <a:bodyPr wrap="square" lIns="0" tIns="0" rIns="0" bIns="0" rtlCol="0" anchor="ctr"/>
          <a:lstStyle/>
          <a:p>
            <a:pPr indent="0" marL="0">
              <a:buNone/>
            </a:pPr>
            <a:r>
              <a:rPr lang="en-US" sz="1500" dirty="0">
                <a:solidFill>
                  <a:schemeClr val="tx1"/>
                </a:solidFill>
              </a:rPr>
              <a:t>Clicks + Add Client</a:t>
            </a:r>
            <a:endParaRPr lang="en-US" sz="1500" dirty="0"/>
          </a:p>
        </p:txBody>
      </p:sp>
      <p:sp>
        <p:nvSpPr>
          <p:cNvPr id="10" name="Step badge"/>
          <p:cNvSpPr/>
          <p:nvPr/>
        </p:nvSpPr>
        <p:spPr>
          <a:xfrm>
            <a:off x="548640" y="2505456"/>
            <a:ext cx="457200" cy="457200"/>
          </a:xfrm>
          <a:prstGeom prst="ellipse">
            <a:avLst/>
          </a:prstGeom>
          <a:solidFill>
            <a:schemeClr val="accent1"/>
          </a:solidFill>
          <a:ln w="25400">
            <a:solidFill>
              <a:schemeClr val="bg2"/>
            </a:solidFill>
            <a:prstDash val="solid"/>
          </a:ln>
        </p:spPr>
      </p:sp>
      <p:sp>
        <p:nvSpPr>
          <p:cNvPr id="11" name="Text 9"/>
          <p:cNvSpPr txBox="1"/>
          <p:nvPr/>
        </p:nvSpPr>
        <p:spPr>
          <a:xfrm>
            <a:off x="548640" y="250545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10"/>
          <p:cNvSpPr txBox="1"/>
          <p:nvPr/>
        </p:nvSpPr>
        <p:spPr>
          <a:xfrm>
            <a:off x="1234440" y="2505456"/>
            <a:ext cx="4206240" cy="457200"/>
          </a:xfrm>
          <a:prstGeom prst="rect">
            <a:avLst/>
          </a:prstGeom>
          <a:noFill/>
          <a:ln/>
        </p:spPr>
        <p:txBody>
          <a:bodyPr wrap="square" lIns="0" tIns="0" rIns="0" bIns="0" rtlCol="0" anchor="ctr"/>
          <a:lstStyle/>
          <a:p>
            <a:pPr indent="0" marL="0">
              <a:buNone/>
            </a:pPr>
            <a:r>
              <a:rPr lang="en-US" sz="1500" dirty="0">
                <a:solidFill>
                  <a:schemeClr val="tx1"/>
                </a:solidFill>
              </a:rPr>
              <a:t>Flask receives form data (/add_client)</a:t>
            </a:r>
            <a:endParaRPr lang="en-US" sz="1500" dirty="0"/>
          </a:p>
        </p:txBody>
      </p:sp>
      <p:sp>
        <p:nvSpPr>
          <p:cNvPr id="13" name="Step badge"/>
          <p:cNvSpPr/>
          <p:nvPr/>
        </p:nvSpPr>
        <p:spPr>
          <a:xfrm>
            <a:off x="548640" y="3072384"/>
            <a:ext cx="457200" cy="457200"/>
          </a:xfrm>
          <a:prstGeom prst="ellipse">
            <a:avLst/>
          </a:prstGeom>
          <a:solidFill>
            <a:schemeClr val="accent1"/>
          </a:solidFill>
          <a:ln w="25400">
            <a:solidFill>
              <a:schemeClr val="bg2"/>
            </a:solidFill>
            <a:prstDash val="solid"/>
          </a:ln>
        </p:spPr>
      </p:sp>
      <p:sp>
        <p:nvSpPr>
          <p:cNvPr id="14" name="Text 12"/>
          <p:cNvSpPr txBox="1"/>
          <p:nvPr/>
        </p:nvSpPr>
        <p:spPr>
          <a:xfrm>
            <a:off x="548640"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3"/>
          <p:cNvSpPr txBox="1"/>
          <p:nvPr/>
        </p:nvSpPr>
        <p:spPr>
          <a:xfrm>
            <a:off x="1234440" y="3072384"/>
            <a:ext cx="4206240" cy="457200"/>
          </a:xfrm>
          <a:prstGeom prst="rect">
            <a:avLst/>
          </a:prstGeom>
          <a:noFill/>
          <a:ln/>
        </p:spPr>
        <p:txBody>
          <a:bodyPr wrap="square" lIns="0" tIns="0" rIns="0" bIns="0" rtlCol="0" anchor="ctr"/>
          <a:lstStyle/>
          <a:p>
            <a:pPr indent="0" marL="0">
              <a:buNone/>
            </a:pPr>
            <a:r>
              <a:rPr lang="en-US" sz="1500" dirty="0">
                <a:solidFill>
                  <a:schemeClr val="tx1"/>
                </a:solidFill>
              </a:rPr>
              <a:t>Next client ID is generated</a:t>
            </a:r>
            <a:endParaRPr lang="en-US" sz="1500" dirty="0"/>
          </a:p>
        </p:txBody>
      </p:sp>
      <p:sp>
        <p:nvSpPr>
          <p:cNvPr id="16" name="Step badge"/>
          <p:cNvSpPr/>
          <p:nvPr/>
        </p:nvSpPr>
        <p:spPr>
          <a:xfrm>
            <a:off x="548640" y="3639312"/>
            <a:ext cx="457200" cy="457200"/>
          </a:xfrm>
          <a:prstGeom prst="ellipse">
            <a:avLst/>
          </a:prstGeom>
          <a:solidFill>
            <a:schemeClr val="accent1"/>
          </a:solidFill>
          <a:ln w="25400">
            <a:solidFill>
              <a:schemeClr val="bg2"/>
            </a:solidFill>
            <a:prstDash val="solid"/>
          </a:ln>
        </p:spPr>
      </p:sp>
      <p:sp>
        <p:nvSpPr>
          <p:cNvPr id="17" name="Text 15"/>
          <p:cNvSpPr txBox="1"/>
          <p:nvPr/>
        </p:nvSpPr>
        <p:spPr>
          <a:xfrm>
            <a:off x="548640" y="36393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8" name="Text 16"/>
          <p:cNvSpPr txBox="1"/>
          <p:nvPr/>
        </p:nvSpPr>
        <p:spPr>
          <a:xfrm>
            <a:off x="1234440" y="3639312"/>
            <a:ext cx="4206240" cy="457200"/>
          </a:xfrm>
          <a:prstGeom prst="rect">
            <a:avLst/>
          </a:prstGeom>
          <a:noFill/>
          <a:ln/>
        </p:spPr>
        <p:txBody>
          <a:bodyPr wrap="square" lIns="0" tIns="0" rIns="0" bIns="0" rtlCol="0" anchor="ctr"/>
          <a:lstStyle/>
          <a:p>
            <a:pPr indent="0" marL="0">
              <a:buNone/>
            </a:pPr>
            <a:r>
              <a:rPr lang="en-US" sz="1500" dirty="0">
                <a:solidFill>
                  <a:schemeClr val="tx1"/>
                </a:solidFill>
              </a:rPr>
              <a:t>INSERT query is executed</a:t>
            </a:r>
            <a:endParaRPr lang="en-US" sz="1500" dirty="0"/>
          </a:p>
        </p:txBody>
      </p:sp>
      <p:sp>
        <p:nvSpPr>
          <p:cNvPr id="19" name="Step badge"/>
          <p:cNvSpPr/>
          <p:nvPr/>
        </p:nvSpPr>
        <p:spPr>
          <a:xfrm>
            <a:off x="548640" y="4206240"/>
            <a:ext cx="457200" cy="457200"/>
          </a:xfrm>
          <a:prstGeom prst="ellipse">
            <a:avLst/>
          </a:prstGeom>
          <a:solidFill>
            <a:schemeClr val="accent2"/>
          </a:solidFill>
          <a:ln w="25400">
            <a:solidFill>
              <a:schemeClr val="bg2"/>
            </a:solidFill>
            <a:prstDash val="solid"/>
          </a:ln>
        </p:spPr>
      </p:sp>
      <p:sp>
        <p:nvSpPr>
          <p:cNvPr id="20" name="Text 18"/>
          <p:cNvSpPr txBox="1"/>
          <p:nvPr/>
        </p:nvSpPr>
        <p:spPr>
          <a:xfrm>
            <a:off x="548640" y="420624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21" name="Text 19"/>
          <p:cNvSpPr txBox="1"/>
          <p:nvPr/>
        </p:nvSpPr>
        <p:spPr>
          <a:xfrm>
            <a:off x="1234440" y="4206240"/>
            <a:ext cx="4206240" cy="45720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connection.commit()</a:t>
            </a:r>
            <a:endParaRPr lang="en-US" sz="1500" dirty="0"/>
          </a:p>
        </p:txBody>
      </p:sp>
      <p:sp>
        <p:nvSpPr>
          <p:cNvPr id="22" name="Step badge"/>
          <p:cNvSpPr/>
          <p:nvPr/>
        </p:nvSpPr>
        <p:spPr>
          <a:xfrm>
            <a:off x="548640" y="4773168"/>
            <a:ext cx="457200" cy="457200"/>
          </a:xfrm>
          <a:prstGeom prst="ellipse">
            <a:avLst/>
          </a:prstGeom>
          <a:solidFill>
            <a:schemeClr val="accent1"/>
          </a:solidFill>
          <a:ln w="25400">
            <a:solidFill>
              <a:schemeClr val="bg2"/>
            </a:solidFill>
            <a:prstDash val="solid"/>
          </a:ln>
        </p:spPr>
      </p:sp>
      <p:sp>
        <p:nvSpPr>
          <p:cNvPr id="23" name="Text 21"/>
          <p:cNvSpPr txBox="1"/>
          <p:nvPr/>
        </p:nvSpPr>
        <p:spPr>
          <a:xfrm>
            <a:off x="548640" y="47731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4" name="Text 22"/>
          <p:cNvSpPr txBox="1"/>
          <p:nvPr/>
        </p:nvSpPr>
        <p:spPr>
          <a:xfrm>
            <a:off x="1234440" y="4773168"/>
            <a:ext cx="4206240" cy="457200"/>
          </a:xfrm>
          <a:prstGeom prst="rect">
            <a:avLst/>
          </a:prstGeom>
          <a:noFill/>
          <a:ln/>
        </p:spPr>
        <p:txBody>
          <a:bodyPr wrap="square" lIns="0" tIns="0" rIns="0" bIns="0" rtlCol="0" anchor="ctr"/>
          <a:lstStyle/>
          <a:p>
            <a:pPr indent="0" marL="0">
              <a:buNone/>
            </a:pPr>
            <a:r>
              <a:rPr lang="en-US" sz="1500" dirty="0">
                <a:solidFill>
                  <a:schemeClr val="tx1"/>
                </a:solidFill>
              </a:rPr>
              <a:t>New client appears in the UI</a:t>
            </a:r>
            <a:endParaRPr lang="en-US" sz="1500" dirty="0"/>
          </a:p>
        </p:txBody>
      </p:sp>
      <p:sp>
        <p:nvSpPr>
          <p:cNvPr id="25" name="Step badge"/>
          <p:cNvSpPr/>
          <p:nvPr/>
        </p:nvSpPr>
        <p:spPr>
          <a:xfrm>
            <a:off x="548640" y="5340096"/>
            <a:ext cx="457200" cy="457200"/>
          </a:xfrm>
          <a:prstGeom prst="ellipse">
            <a:avLst/>
          </a:prstGeom>
          <a:solidFill>
            <a:schemeClr val="accent1"/>
          </a:solidFill>
          <a:ln w="25400">
            <a:solidFill>
              <a:schemeClr val="bg2"/>
            </a:solidFill>
            <a:prstDash val="solid"/>
          </a:ln>
        </p:spPr>
      </p:sp>
      <p:sp>
        <p:nvSpPr>
          <p:cNvPr id="26" name="Text 24"/>
          <p:cNvSpPr txBox="1"/>
          <p:nvPr/>
        </p:nvSpPr>
        <p:spPr>
          <a:xfrm>
            <a:off x="548640" y="534009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7" name="Text 25"/>
          <p:cNvSpPr txBox="1"/>
          <p:nvPr/>
        </p:nvSpPr>
        <p:spPr>
          <a:xfrm>
            <a:off x="1234440" y="5340096"/>
            <a:ext cx="4206240" cy="457200"/>
          </a:xfrm>
          <a:prstGeom prst="rect">
            <a:avLst/>
          </a:prstGeom>
          <a:noFill/>
          <a:ln/>
        </p:spPr>
        <p:txBody>
          <a:bodyPr wrap="square" lIns="0" tIns="0" rIns="0" bIns="0" rtlCol="0" anchor="ctr"/>
          <a:lstStyle/>
          <a:p>
            <a:pPr indent="0" marL="0">
              <a:buNone/>
            </a:pPr>
            <a:r>
              <a:rPr lang="en-US" sz="1500" dirty="0">
                <a:solidFill>
                  <a:schemeClr val="tx1"/>
                </a:solidFill>
              </a:rPr>
              <a:t>Record is stored in MySQL</a:t>
            </a:r>
            <a:endParaRPr lang="en-US" sz="1500" dirty="0"/>
          </a:p>
        </p:txBody>
      </p:sp>
      <p:sp>
        <p:nvSpPr>
          <p:cNvPr id="28" name="Code block"/>
          <p:cNvSpPr/>
          <p:nvPr/>
        </p:nvSpPr>
        <p:spPr>
          <a:xfrm>
            <a:off x="5760720" y="1371600"/>
            <a:ext cx="5879592" cy="2194560"/>
          </a:xfrm>
          <a:prstGeom prst="roundRect">
            <a:avLst>
              <a:gd name="adj" fmla="val 4167"/>
            </a:avLst>
          </a:prstGeom>
          <a:solidFill>
            <a:srgbClr val="0B1F3A"/>
          </a:solidFill>
          <a:ln w="12700">
            <a:solidFill>
              <a:srgbClr val="0B1F3A"/>
            </a:solidFill>
            <a:prstDash val="solid"/>
          </a:ln>
        </p:spPr>
      </p:sp>
      <p:sp>
        <p:nvSpPr>
          <p:cNvPr id="29" name="Text 27"/>
          <p:cNvSpPr txBox="1"/>
          <p:nvPr/>
        </p:nvSpPr>
        <p:spPr>
          <a:xfrm>
            <a:off x="5943600" y="1481328"/>
            <a:ext cx="1371600" cy="228600"/>
          </a:xfrm>
          <a:prstGeom prst="rect">
            <a:avLst/>
          </a:prstGeom>
          <a:noFill/>
          <a:ln/>
        </p:spPr>
        <p:txBody>
          <a:bodyPr wrap="square" lIns="0" tIns="0" rIns="0" bIns="0" rtlCol="0" anchor="t"/>
          <a:lstStyle/>
          <a:p>
            <a:pPr indent="0" marL="0">
              <a:buNone/>
            </a:pPr>
            <a:r>
              <a:rPr lang="en-US" sz="1100" b="1" dirty="0">
                <a:solidFill>
                  <a:schemeClr val="accent2"/>
                </a:solidFill>
              </a:rPr>
              <a:t>SQL</a:t>
            </a:r>
            <a:endParaRPr lang="en-US" sz="1100" dirty="0"/>
          </a:p>
        </p:txBody>
      </p:sp>
      <p:sp>
        <p:nvSpPr>
          <p:cNvPr id="30" name="Code text"/>
          <p:cNvSpPr txBox="1"/>
          <p:nvPr/>
        </p:nvSpPr>
        <p:spPr>
          <a:xfrm>
            <a:off x="5943600" y="1783080"/>
            <a:ext cx="5513832" cy="1691640"/>
          </a:xfrm>
          <a:prstGeom prst="rect">
            <a:avLst/>
          </a:prstGeom>
          <a:noFill/>
          <a:ln/>
        </p:spPr>
        <p:txBody>
          <a:bodyPr wrap="square" lIns="0" tIns="0" rIns="0" bIns="0" rtlCol="0" anchor="t"/>
          <a:lstStyle/>
          <a:p>
            <a:pPr indent="0" marL="0">
              <a:buNone/>
            </a:pPr>
            <a:r>
              <a:rPr lang="en-US" sz="1200" dirty="0">
                <a:solidFill>
                  <a:srgbClr val="8AA4C2"/>
                </a:solidFill>
                <a:latin typeface="Courier New" pitchFamily="34" charset="0"/>
                <a:ea typeface="Courier New" pitchFamily="34" charset="-122"/>
                <a:cs typeface="Courier New" pitchFamily="34" charset="-120"/>
              </a:rPr>
              <a:t>-- Generate the next client ID</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SELECT COALESCE(MAX(client_id), 1000) + 1 FROM client;</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AA4C2"/>
                </a:solidFill>
                <a:latin typeface="Courier New" pitchFamily="34" charset="0"/>
                <a:ea typeface="Courier New" pitchFamily="34" charset="-122"/>
                <a:cs typeface="Courier New" pitchFamily="34" charset="-120"/>
              </a:rPr>
              <a:t>-- Insert the new client</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INSERT INTO client</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(client_id, officer_id, name, contact, id_no)</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VALUES (%s, %s, %s, %s, %s);</a:t>
            </a:r>
            <a:endParaRPr lang="en-US" sz="1200" dirty="0"/>
          </a:p>
        </p:txBody>
      </p:sp>
      <p:pic>
        <p:nvPicPr>
          <p:cNvPr id="31" name="Image 0" descr="Screenshot of the Register New Client form in the web interface">    </p:cNvPr>
          <p:cNvPicPr>
            <a:picLocks noChangeAspect="1"/>
          </p:cNvPicPr>
          <p:nvPr/>
        </p:nvPicPr>
        <p:blipFill>
          <a:blip r:embed="rId1"/>
          <a:stretch>
            <a:fillRect/>
          </a:stretch>
        </p:blipFill>
        <p:spPr>
          <a:xfrm>
            <a:off x="5760720" y="3749040"/>
            <a:ext cx="5879592" cy="2234933"/>
          </a:xfrm>
          <a:prstGeom prst="rect">
            <a:avLst/>
          </a:prstGeom>
        </p:spPr>
      </p:pic>
      <p:sp>
        <p:nvSpPr>
          <p:cNvPr id="32" name="Image frame"/>
          <p:cNvSpPr/>
          <p:nvPr/>
        </p:nvSpPr>
        <p:spPr>
          <a:xfrm>
            <a:off x="5760720" y="3749040"/>
            <a:ext cx="5879592" cy="2234933"/>
          </a:xfrm>
          <a:prstGeom prst="rect">
            <a:avLst/>
          </a:prstGeom>
          <a:solidFill>
            <a:srgbClr val="FFFFFF">
              <a:alpha val="0"/>
            </a:srgbClr>
          </a:solidFill>
          <a:ln w="12700">
            <a:solidFill>
              <a:srgbClr val="B8C6D6"/>
            </a:solidFill>
            <a:prstDash val="solid"/>
          </a:ln>
        </p:spPr>
      </p:sp>
      <p:sp>
        <p:nvSpPr>
          <p:cNvPr id="33" name="Text 30"/>
          <p:cNvSpPr txBox="1"/>
          <p:nvPr/>
        </p:nvSpPr>
        <p:spPr>
          <a:xfrm>
            <a:off x="5760720" y="6057125"/>
            <a:ext cx="5879592" cy="274320"/>
          </a:xfrm>
          <a:prstGeom prst="rect">
            <a:avLst/>
          </a:prstGeom>
          <a:noFill/>
          <a:ln/>
        </p:spPr>
        <p:txBody>
          <a:bodyPr wrap="square" lIns="0" tIns="0" rIns="0" bIns="0" rtlCol="0" anchor="t"/>
          <a:lstStyle/>
          <a:p>
            <a:pPr indent="0" marL="0">
              <a:buNone/>
            </a:pPr>
            <a:r>
              <a:rPr lang="en-US" sz="1200" dirty="0">
                <a:solidFill>
                  <a:srgbClr val="5B6B80"/>
                </a:solidFill>
              </a:rPr>
              <a:t>Register New Client form: Client Name, Contact Number, ID Number and + Add Client</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VIEW &amp; DELETE Operations</a:t>
            </a:r>
            <a:endParaRPr lang="en-US" sz="3200" dirty="0"/>
          </a:p>
        </p:txBody>
      </p:sp>
      <p:sp>
        <p:nvSpPr>
          <p:cNvPr id="3" name="Icon circle"/>
          <p:cNvSpPr/>
          <p:nvPr/>
        </p:nvSpPr>
        <p:spPr>
          <a:xfrm>
            <a:off x="548640" y="1371600"/>
            <a:ext cx="502920" cy="502920"/>
          </a:xfrm>
          <a:prstGeom prst="ellipse">
            <a:avLst/>
          </a:prstGeom>
          <a:solidFill>
            <a:schemeClr val="accent1"/>
          </a:solidFill>
          <a:ln w="12700">
            <a:solidFill>
              <a:schemeClr val="accent1"/>
            </a:solidFill>
            <a:prstDash val="solid"/>
          </a:ln>
        </p:spPr>
      </p:sp>
      <p:pic>
        <p:nvPicPr>
          <p:cNvPr id="4" name="Image 0" descr="FaEye">    </p:cNvPr>
          <p:cNvPicPr>
            <a:picLocks noChangeAspect="1"/>
          </p:cNvPicPr>
          <p:nvPr/>
        </p:nvPicPr>
        <p:blipFill>
          <a:blip r:embed="rId1"/>
          <a:stretch>
            <a:fillRect/>
          </a:stretch>
        </p:blipFill>
        <p:spPr>
          <a:xfrm>
            <a:off x="679399" y="1502359"/>
            <a:ext cx="241402" cy="241402"/>
          </a:xfrm>
          <a:prstGeom prst="rect">
            <a:avLst/>
          </a:prstGeom>
        </p:spPr>
      </p:pic>
      <p:sp>
        <p:nvSpPr>
          <p:cNvPr id="5" name="Text 2"/>
          <p:cNvSpPr txBox="1"/>
          <p:nvPr/>
        </p:nvSpPr>
        <p:spPr>
          <a:xfrm>
            <a:off x="1188720" y="137160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VIEW – Read Records</a:t>
            </a:r>
            <a:endParaRPr lang="en-US" sz="2000" dirty="0"/>
          </a:p>
        </p:txBody>
      </p:sp>
      <p:sp>
        <p:nvSpPr>
          <p:cNvPr id="6" name="Text 3"/>
          <p:cNvSpPr txBox="1"/>
          <p:nvPr/>
        </p:nvSpPr>
        <p:spPr>
          <a:xfrm>
            <a:off x="548640" y="2057400"/>
            <a:ext cx="5852160" cy="822960"/>
          </a:xfrm>
          <a:prstGeom prst="rect">
            <a:avLst/>
          </a:prstGeom>
          <a:noFill/>
          <a:ln/>
        </p:spPr>
        <p:txBody>
          <a:bodyPr wrap="square" lIns="0" tIns="0" rIns="0" bIns="0" rtlCol="0" anchor="t"/>
          <a:lstStyle/>
          <a:p>
            <a:pPr indent="0" marL="0">
              <a:buNone/>
            </a:pPr>
            <a:r>
              <a:rPr lang="en-US" sz="1400" dirty="0">
                <a:solidFill>
                  <a:schemeClr val="tx2"/>
                </a:solidFill>
              </a:rPr>
              <a:t>Flask executes a SELECT query and retrieves the client records from MySQL. The records are displayed in the client table of the web interface.</a:t>
            </a:r>
            <a:endParaRPr lang="en-US" sz="1400" dirty="0"/>
          </a:p>
        </p:txBody>
      </p:sp>
      <p:pic>
        <p:nvPicPr>
          <p:cNvPr id="7" name="Image 1" descr="Screenshot of the Client Records table with a Delete button on each row">    </p:cNvPr>
          <p:cNvPicPr>
            <a:picLocks noChangeAspect="1"/>
          </p:cNvPicPr>
          <p:nvPr/>
        </p:nvPicPr>
        <p:blipFill>
          <a:blip r:embed="rId2"/>
          <a:stretch>
            <a:fillRect/>
          </a:stretch>
        </p:blipFill>
        <p:spPr>
          <a:xfrm>
            <a:off x="548640" y="3017520"/>
            <a:ext cx="5852160" cy="2503598"/>
          </a:xfrm>
          <a:prstGeom prst="rect">
            <a:avLst/>
          </a:prstGeom>
        </p:spPr>
      </p:pic>
      <p:sp>
        <p:nvSpPr>
          <p:cNvPr id="8" name="Image frame"/>
          <p:cNvSpPr/>
          <p:nvPr/>
        </p:nvSpPr>
        <p:spPr>
          <a:xfrm>
            <a:off x="548640" y="3017520"/>
            <a:ext cx="5852160" cy="2503598"/>
          </a:xfrm>
          <a:prstGeom prst="rect">
            <a:avLst/>
          </a:prstGeom>
          <a:solidFill>
            <a:srgbClr val="FFFFFF">
              <a:alpha val="0"/>
            </a:srgbClr>
          </a:solidFill>
          <a:ln w="12700">
            <a:solidFill>
              <a:srgbClr val="B8C6D6"/>
            </a:solidFill>
            <a:prstDash val="solid"/>
          </a:ln>
        </p:spPr>
      </p:sp>
      <p:sp>
        <p:nvSpPr>
          <p:cNvPr id="9" name="Text 5"/>
          <p:cNvSpPr txBox="1"/>
          <p:nvPr/>
        </p:nvSpPr>
        <p:spPr>
          <a:xfrm>
            <a:off x="548640" y="5612558"/>
            <a:ext cx="5852160" cy="274320"/>
          </a:xfrm>
          <a:prstGeom prst="rect">
            <a:avLst/>
          </a:prstGeom>
          <a:noFill/>
          <a:ln/>
        </p:spPr>
        <p:txBody>
          <a:bodyPr wrap="square" lIns="0" tIns="0" rIns="0" bIns="0" rtlCol="0" anchor="t"/>
          <a:lstStyle/>
          <a:p>
            <a:pPr indent="0" marL="0">
              <a:buNone/>
            </a:pPr>
            <a:r>
              <a:rPr lang="en-US" sz="1200" dirty="0">
                <a:solidFill>
                  <a:srgbClr val="5B6B80"/>
                </a:solidFill>
              </a:rPr>
              <a:t>Client Records table fetched from MySQL, with a Delete button on every row</a:t>
            </a:r>
            <a:endParaRPr lang="en-US" sz="1200" dirty="0"/>
          </a:p>
        </p:txBody>
      </p:sp>
      <p:sp>
        <p:nvSpPr>
          <p:cNvPr id="10" name="Icon circle"/>
          <p:cNvSpPr/>
          <p:nvPr/>
        </p:nvSpPr>
        <p:spPr>
          <a:xfrm>
            <a:off x="6675120" y="1371600"/>
            <a:ext cx="502920" cy="502920"/>
          </a:xfrm>
          <a:prstGeom prst="ellipse">
            <a:avLst/>
          </a:prstGeom>
          <a:solidFill>
            <a:schemeClr val="accent1"/>
          </a:solidFill>
          <a:ln w="12700">
            <a:solidFill>
              <a:schemeClr val="accent1"/>
            </a:solidFill>
            <a:prstDash val="solid"/>
          </a:ln>
        </p:spPr>
      </p:sp>
      <p:pic>
        <p:nvPicPr>
          <p:cNvPr id="11" name="Image 2" descr="FaTrashAlt">    </p:cNvPr>
          <p:cNvPicPr>
            <a:picLocks noChangeAspect="1"/>
          </p:cNvPicPr>
          <p:nvPr/>
        </p:nvPicPr>
        <p:blipFill>
          <a:blip r:embed="rId3"/>
          <a:stretch>
            <a:fillRect/>
          </a:stretch>
        </p:blipFill>
        <p:spPr>
          <a:xfrm>
            <a:off x="6805879" y="1502359"/>
            <a:ext cx="241402" cy="241402"/>
          </a:xfrm>
          <a:prstGeom prst="rect">
            <a:avLst/>
          </a:prstGeom>
        </p:spPr>
      </p:pic>
      <p:sp>
        <p:nvSpPr>
          <p:cNvPr id="12" name="Text 7"/>
          <p:cNvSpPr txBox="1"/>
          <p:nvPr/>
        </p:nvSpPr>
        <p:spPr>
          <a:xfrm>
            <a:off x="7315200" y="1371600"/>
            <a:ext cx="4572000" cy="502920"/>
          </a:xfrm>
          <a:prstGeom prst="rect">
            <a:avLst/>
          </a:prstGeom>
          <a:noFill/>
          <a:ln/>
        </p:spPr>
        <p:txBody>
          <a:bodyPr wrap="square" lIns="0" tIns="0" rIns="0" bIns="0" rtlCol="0" anchor="ctr"/>
          <a:lstStyle/>
          <a:p>
            <a:pPr indent="0" marL="0">
              <a:buNone/>
            </a:pPr>
            <a:r>
              <a:rPr lang="en-US" sz="2000" b="1" dirty="0">
                <a:solidFill>
                  <a:schemeClr val="tx1"/>
                </a:solidFill>
              </a:rPr>
              <a:t>DELETE – Remove a Record</a:t>
            </a:r>
            <a:endParaRPr lang="en-US" sz="2000" dirty="0"/>
          </a:p>
        </p:txBody>
      </p:sp>
      <p:sp>
        <p:nvSpPr>
          <p:cNvPr id="13" name="Step badge"/>
          <p:cNvSpPr/>
          <p:nvPr/>
        </p:nvSpPr>
        <p:spPr>
          <a:xfrm>
            <a:off x="6675120" y="2039112"/>
            <a:ext cx="347472" cy="347472"/>
          </a:xfrm>
          <a:prstGeom prst="ellipse">
            <a:avLst/>
          </a:prstGeom>
          <a:solidFill>
            <a:schemeClr val="accent1"/>
          </a:solidFill>
          <a:ln w="12700">
            <a:solidFill>
              <a:schemeClr val="accent1"/>
            </a:solidFill>
            <a:prstDash val="solid"/>
          </a:ln>
        </p:spPr>
      </p:sp>
      <p:sp>
        <p:nvSpPr>
          <p:cNvPr id="14" name="Text 9"/>
          <p:cNvSpPr txBox="1"/>
          <p:nvPr/>
        </p:nvSpPr>
        <p:spPr>
          <a:xfrm>
            <a:off x="6675120" y="20391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Text 10"/>
          <p:cNvSpPr txBox="1"/>
          <p:nvPr/>
        </p:nvSpPr>
        <p:spPr>
          <a:xfrm>
            <a:off x="7178040" y="2011680"/>
            <a:ext cx="4389120" cy="402336"/>
          </a:xfrm>
          <a:prstGeom prst="rect">
            <a:avLst/>
          </a:prstGeom>
          <a:noFill/>
          <a:ln/>
        </p:spPr>
        <p:txBody>
          <a:bodyPr wrap="square" lIns="0" tIns="0" rIns="0" bIns="0" rtlCol="0" anchor="ctr"/>
          <a:lstStyle/>
          <a:p>
            <a:pPr indent="0" marL="0">
              <a:buNone/>
            </a:pPr>
            <a:r>
              <a:rPr lang="en-US" sz="1400" dirty="0">
                <a:solidFill>
                  <a:schemeClr val="tx1"/>
                </a:solidFill>
              </a:rPr>
              <a:t>User clicks Delete</a:t>
            </a:r>
            <a:endParaRPr lang="en-US" sz="1400" dirty="0"/>
          </a:p>
        </p:txBody>
      </p:sp>
      <p:sp>
        <p:nvSpPr>
          <p:cNvPr id="16" name="Step badge"/>
          <p:cNvSpPr/>
          <p:nvPr/>
        </p:nvSpPr>
        <p:spPr>
          <a:xfrm>
            <a:off x="6675120" y="2496312"/>
            <a:ext cx="347472" cy="347472"/>
          </a:xfrm>
          <a:prstGeom prst="ellipse">
            <a:avLst/>
          </a:prstGeom>
          <a:solidFill>
            <a:schemeClr val="accent1"/>
          </a:solidFill>
          <a:ln w="12700">
            <a:solidFill>
              <a:schemeClr val="accent1"/>
            </a:solidFill>
            <a:prstDash val="solid"/>
          </a:ln>
        </p:spPr>
      </p:sp>
      <p:sp>
        <p:nvSpPr>
          <p:cNvPr id="17" name="Text 12"/>
          <p:cNvSpPr txBox="1"/>
          <p:nvPr/>
        </p:nvSpPr>
        <p:spPr>
          <a:xfrm>
            <a:off x="6675120" y="24963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Text 13"/>
          <p:cNvSpPr txBox="1"/>
          <p:nvPr/>
        </p:nvSpPr>
        <p:spPr>
          <a:xfrm>
            <a:off x="7178040" y="2468880"/>
            <a:ext cx="4389120" cy="402336"/>
          </a:xfrm>
          <a:prstGeom prst="rect">
            <a:avLst/>
          </a:prstGeom>
          <a:noFill/>
          <a:ln/>
        </p:spPr>
        <p:txBody>
          <a:bodyPr wrap="square" lIns="0" tIns="0" rIns="0" bIns="0" rtlCol="0" anchor="ctr"/>
          <a:lstStyle/>
          <a:p>
            <a:pPr indent="0" marL="0">
              <a:buNone/>
            </a:pPr>
            <a:r>
              <a:rPr lang="en-US" sz="1400" dirty="0">
                <a:solidFill>
                  <a:schemeClr val="tx1"/>
                </a:solidFill>
              </a:rPr>
              <a:t>Flask receives client_id</a:t>
            </a:r>
            <a:endParaRPr lang="en-US" sz="1400" dirty="0"/>
          </a:p>
        </p:txBody>
      </p:sp>
      <p:sp>
        <p:nvSpPr>
          <p:cNvPr id="19" name="Step badge"/>
          <p:cNvSpPr/>
          <p:nvPr/>
        </p:nvSpPr>
        <p:spPr>
          <a:xfrm>
            <a:off x="6675120" y="2953512"/>
            <a:ext cx="347472" cy="347472"/>
          </a:xfrm>
          <a:prstGeom prst="ellipse">
            <a:avLst/>
          </a:prstGeom>
          <a:solidFill>
            <a:schemeClr val="accent1"/>
          </a:solidFill>
          <a:ln w="12700">
            <a:solidFill>
              <a:schemeClr val="accent1"/>
            </a:solidFill>
            <a:prstDash val="solid"/>
          </a:ln>
        </p:spPr>
      </p:sp>
      <p:sp>
        <p:nvSpPr>
          <p:cNvPr id="20" name="Text 15"/>
          <p:cNvSpPr txBox="1"/>
          <p:nvPr/>
        </p:nvSpPr>
        <p:spPr>
          <a:xfrm>
            <a:off x="6675120" y="29535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6"/>
          <p:cNvSpPr txBox="1"/>
          <p:nvPr/>
        </p:nvSpPr>
        <p:spPr>
          <a:xfrm>
            <a:off x="7178040" y="2926080"/>
            <a:ext cx="4389120" cy="402336"/>
          </a:xfrm>
          <a:prstGeom prst="rect">
            <a:avLst/>
          </a:prstGeom>
          <a:noFill/>
          <a:ln/>
        </p:spPr>
        <p:txBody>
          <a:bodyPr wrap="square" lIns="0" tIns="0" rIns="0" bIns="0" rtlCol="0" anchor="ctr"/>
          <a:lstStyle/>
          <a:p>
            <a:pPr indent="0" marL="0">
              <a:buNone/>
            </a:pPr>
            <a:r>
              <a:rPr lang="en-US" sz="1400" dirty="0">
                <a:solidFill>
                  <a:schemeClr val="tx1"/>
                </a:solidFill>
              </a:rPr>
              <a:t>DELETE query executes</a:t>
            </a:r>
            <a:endParaRPr lang="en-US" sz="1400" dirty="0"/>
          </a:p>
        </p:txBody>
      </p:sp>
      <p:sp>
        <p:nvSpPr>
          <p:cNvPr id="22" name="Step badge"/>
          <p:cNvSpPr/>
          <p:nvPr/>
        </p:nvSpPr>
        <p:spPr>
          <a:xfrm>
            <a:off x="6675120" y="3410712"/>
            <a:ext cx="347472" cy="347472"/>
          </a:xfrm>
          <a:prstGeom prst="ellipse">
            <a:avLst/>
          </a:prstGeom>
          <a:solidFill>
            <a:schemeClr val="accent2"/>
          </a:solidFill>
          <a:ln w="12700">
            <a:solidFill>
              <a:schemeClr val="accent2"/>
            </a:solidFill>
            <a:prstDash val="solid"/>
          </a:ln>
        </p:spPr>
      </p:sp>
      <p:sp>
        <p:nvSpPr>
          <p:cNvPr id="23" name="Text 18"/>
          <p:cNvSpPr txBox="1"/>
          <p:nvPr/>
        </p:nvSpPr>
        <p:spPr>
          <a:xfrm>
            <a:off x="6675120" y="3410712"/>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4" name="Text 19"/>
          <p:cNvSpPr txBox="1"/>
          <p:nvPr/>
        </p:nvSpPr>
        <p:spPr>
          <a:xfrm>
            <a:off x="7178040" y="3383280"/>
            <a:ext cx="4389120" cy="402336"/>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connection.commit()</a:t>
            </a:r>
            <a:endParaRPr lang="en-US" sz="1400" dirty="0"/>
          </a:p>
        </p:txBody>
      </p:sp>
      <p:sp>
        <p:nvSpPr>
          <p:cNvPr id="25" name="Step badge"/>
          <p:cNvSpPr/>
          <p:nvPr/>
        </p:nvSpPr>
        <p:spPr>
          <a:xfrm>
            <a:off x="6675120" y="3867912"/>
            <a:ext cx="347472" cy="347472"/>
          </a:xfrm>
          <a:prstGeom prst="ellipse">
            <a:avLst/>
          </a:prstGeom>
          <a:solidFill>
            <a:schemeClr val="accent1"/>
          </a:solidFill>
          <a:ln w="12700">
            <a:solidFill>
              <a:schemeClr val="accent1"/>
            </a:solidFill>
            <a:prstDash val="solid"/>
          </a:ln>
        </p:spPr>
      </p:sp>
      <p:sp>
        <p:nvSpPr>
          <p:cNvPr id="26" name="Text 21"/>
          <p:cNvSpPr txBox="1"/>
          <p:nvPr/>
        </p:nvSpPr>
        <p:spPr>
          <a:xfrm>
            <a:off x="6675120" y="38679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22"/>
          <p:cNvSpPr txBox="1"/>
          <p:nvPr/>
        </p:nvSpPr>
        <p:spPr>
          <a:xfrm>
            <a:off x="7178040" y="3840480"/>
            <a:ext cx="4389120" cy="402336"/>
          </a:xfrm>
          <a:prstGeom prst="rect">
            <a:avLst/>
          </a:prstGeom>
          <a:noFill/>
          <a:ln/>
        </p:spPr>
        <p:txBody>
          <a:bodyPr wrap="square" lIns="0" tIns="0" rIns="0" bIns="0" rtlCol="0" anchor="ctr"/>
          <a:lstStyle/>
          <a:p>
            <a:pPr indent="0" marL="0">
              <a:buNone/>
            </a:pPr>
            <a:r>
              <a:rPr lang="en-US" sz="1400" dirty="0">
                <a:solidFill>
                  <a:schemeClr val="tx1"/>
                </a:solidFill>
              </a:rPr>
              <a:t>Record removed from UI and MySQL</a:t>
            </a:r>
            <a:endParaRPr lang="en-US" sz="1400" dirty="0"/>
          </a:p>
        </p:txBody>
      </p:sp>
      <p:sp>
        <p:nvSpPr>
          <p:cNvPr id="28" name="Code block"/>
          <p:cNvSpPr/>
          <p:nvPr/>
        </p:nvSpPr>
        <p:spPr>
          <a:xfrm>
            <a:off x="6675120" y="4434840"/>
            <a:ext cx="4965192" cy="1143000"/>
          </a:xfrm>
          <a:prstGeom prst="roundRect">
            <a:avLst>
              <a:gd name="adj" fmla="val 8000"/>
            </a:avLst>
          </a:prstGeom>
          <a:solidFill>
            <a:srgbClr val="0B1F3A"/>
          </a:solidFill>
          <a:ln w="12700">
            <a:solidFill>
              <a:srgbClr val="0B1F3A"/>
            </a:solidFill>
            <a:prstDash val="solid"/>
          </a:ln>
        </p:spPr>
      </p:sp>
      <p:sp>
        <p:nvSpPr>
          <p:cNvPr id="29" name="Text 24"/>
          <p:cNvSpPr txBox="1"/>
          <p:nvPr/>
        </p:nvSpPr>
        <p:spPr>
          <a:xfrm>
            <a:off x="6858000" y="4544568"/>
            <a:ext cx="1371600" cy="228600"/>
          </a:xfrm>
          <a:prstGeom prst="rect">
            <a:avLst/>
          </a:prstGeom>
          <a:noFill/>
          <a:ln/>
        </p:spPr>
        <p:txBody>
          <a:bodyPr wrap="square" lIns="0" tIns="0" rIns="0" bIns="0" rtlCol="0" anchor="t"/>
          <a:lstStyle/>
          <a:p>
            <a:pPr indent="0" marL="0">
              <a:buNone/>
            </a:pPr>
            <a:r>
              <a:rPr lang="en-US" sz="1100" b="1" dirty="0">
                <a:solidFill>
                  <a:schemeClr val="accent2"/>
                </a:solidFill>
              </a:rPr>
              <a:t>SQL</a:t>
            </a:r>
            <a:endParaRPr lang="en-US" sz="1100" dirty="0"/>
          </a:p>
        </p:txBody>
      </p:sp>
      <p:sp>
        <p:nvSpPr>
          <p:cNvPr id="30" name="Code text"/>
          <p:cNvSpPr txBox="1"/>
          <p:nvPr/>
        </p:nvSpPr>
        <p:spPr>
          <a:xfrm>
            <a:off x="6858000" y="4846320"/>
            <a:ext cx="4599432" cy="640080"/>
          </a:xfrm>
          <a:prstGeom prst="rect">
            <a:avLst/>
          </a:prstGeom>
          <a:noFill/>
          <a:ln/>
        </p:spPr>
        <p:txBody>
          <a:bodyPr wrap="square" lIns="0" tIns="0" rIns="0" bIns="0" rtlCol="0" anchor="t"/>
          <a:lstStyle/>
          <a:p>
            <a:pPr indent="0" marL="0">
              <a:buNone/>
            </a:pPr>
            <a:r>
              <a:rPr lang="en-US" sz="1200" dirty="0">
                <a:solidFill>
                  <a:srgbClr val="E6EEF7"/>
                </a:solidFill>
                <a:latin typeface="Courier New" pitchFamily="34" charset="0"/>
                <a:ea typeface="Courier New" pitchFamily="34" charset="-122"/>
                <a:cs typeface="Courier New" pitchFamily="34" charset="-120"/>
              </a:rPr>
              <a:t>DELETE FROM client</a:t>
            </a:r>
            <a:endParaRPr lang="en-US" sz="1200" dirty="0"/>
          </a:p>
          <a:p>
            <a:pPr indent="0" marL="0">
              <a:buNone/>
            </a:pPr>
            <a:r>
              <a:rPr lang="en-US" sz="1200" dirty="0">
                <a:solidFill>
                  <a:srgbClr val="E6EEF7"/>
                </a:solidFill>
                <a:latin typeface="Courier New" pitchFamily="34" charset="0"/>
                <a:ea typeface="Courier New" pitchFamily="34" charset="-122"/>
                <a:cs typeface="Courier New" pitchFamily="34" charset="-120"/>
              </a:rPr>
              <a:t>WHERE client_id = %s;</a:t>
            </a:r>
            <a:endParaRPr lang="en-US" sz="1200" dirty="0"/>
          </a:p>
        </p:txBody>
      </p:sp>
      <p:sp>
        <p:nvSpPr>
          <p:cNvPr id="31" name="Text 26"/>
          <p:cNvSpPr txBox="1"/>
          <p:nvPr/>
        </p:nvSpPr>
        <p:spPr>
          <a:xfrm>
            <a:off x="6675120" y="5715000"/>
            <a:ext cx="4965192" cy="274320"/>
          </a:xfrm>
          <a:prstGeom prst="rect">
            <a:avLst/>
          </a:prstGeom>
          <a:noFill/>
          <a:ln/>
        </p:spPr>
        <p:txBody>
          <a:bodyPr wrap="square" lIns="0" tIns="0" rIns="0" bIns="0" rtlCol="0" anchor="t"/>
          <a:lstStyle/>
          <a:p>
            <a:pPr indent="0" marL="0">
              <a:buNone/>
            </a:pPr>
            <a:r>
              <a:rPr lang="en-US" sz="1300" dirty="0">
                <a:solidFill>
                  <a:srgbClr val="5B6B80"/>
                </a:solidFill>
              </a:rPr>
              <a:t>Route: /delete_client/&lt;client_id&gt;</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Testing &amp; Results</a:t>
            </a:r>
            <a:endParaRPr lang="en-US" sz="3200" dirty="0"/>
          </a:p>
        </p:txBody>
      </p:sp>
      <p:graphicFrame>
        <p:nvGraphicFramePr>
          <p:cNvPr id="8" name="Test cases table"/>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a:tblGrid>
                <a:gridCol w="457200"/>
                <a:gridCol w="1737360"/>
                <a:gridCol w="3383280"/>
                <a:gridCol w="822960"/>
              </a:tblGrid>
              <a:tr h="457200">
                <a:tc>
                  <a:txBody>
                    <a:bodyPr/>
                    <a:lstStyle/>
                    <a:p>
                      <a:pPr algn="ctr" indent="0" marL="0">
                        <a:buNone/>
                      </a:pPr>
                      <a:r>
                        <a:rPr lang="en-US" sz="1400" b="1" dirty="0">
                          <a:solidFill>
                            <a:srgbClr val="FFFFFF"/>
                          </a:solidFill>
                        </a:rPr>
                        <a:t>#</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rPr>
                        <a:t>Test Case</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1F3A"/>
                    </a:solidFill>
                  </a:tcPr>
                </a:tc>
                <a:tc>
                  <a:txBody>
                    <a:bodyPr/>
                    <a:lstStyle/>
                    <a:p>
                      <a:pPr algn="l" indent="0" marL="0">
                        <a:buNone/>
                      </a:pPr>
                      <a:r>
                        <a:rPr lang="en-US" sz="1400" b="1" dirty="0">
                          <a:solidFill>
                            <a:srgbClr val="FFFFFF"/>
                          </a:solidFill>
                        </a:rPr>
                        <a:t>Expected Result</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1F3A"/>
                    </a:solidFill>
                  </a:tcPr>
                </a:tc>
                <a:tc>
                  <a:txBody>
                    <a:bodyPr/>
                    <a:lstStyle/>
                    <a:p>
                      <a:pPr algn="ctr" indent="0" marL="0">
                        <a:buNone/>
                      </a:pPr>
                      <a:r>
                        <a:rPr lang="en-US" sz="1400" b="1" dirty="0">
                          <a:solidFill>
                            <a:srgbClr val="FFFFFF"/>
                          </a:solidFill>
                        </a:rPr>
                        <a:t>Result</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0B1F3A"/>
                    </a:solidFill>
                  </a:tcPr>
                </a:tc>
              </a:tr>
              <a:tr h="777240">
                <a:tc>
                  <a:txBody>
                    <a:bodyPr/>
                    <a:lstStyle/>
                    <a:p>
                      <a:pPr algn="ctr" indent="0" marL="0">
                        <a:buNone/>
                      </a:pPr>
                      <a:r>
                        <a:rPr lang="en-US" sz="1400" b="1" dirty="0">
                          <a:solidFill>
                            <a:srgbClr val="0B1F3A"/>
                          </a:solidFill>
                        </a:rPr>
                        <a:t>1</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rPr>
                        <a:t>View existing clients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rPr>
                        <a:t>Existing MySQL records displayed in the UI</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PASS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2E9E6B"/>
                    </a:solidFill>
                  </a:tcPr>
                </a:tc>
              </a:tr>
              <a:tr h="777240">
                <a:tc>
                  <a:txBody>
                    <a:bodyPr/>
                    <a:lstStyle/>
                    <a:p>
                      <a:pPr algn="ctr" indent="0" marL="0">
                        <a:buNone/>
                      </a:pPr>
                      <a:r>
                        <a:rPr lang="en-US" sz="1400" b="1" dirty="0">
                          <a:solidFill>
                            <a:srgbClr val="0B1F3A"/>
                          </a:solidFill>
                        </a:rPr>
                        <a:t>2</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rPr>
                        <a:t>Add new client</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rPr>
                        <a:t>New client inserted into the database and displayed in the UI</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PASS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2E9E6B"/>
                    </a:solidFill>
                  </a:tcPr>
                </a:tc>
              </a:tr>
              <a:tr h="777240">
                <a:tc>
                  <a:txBody>
                    <a:bodyPr/>
                    <a:lstStyle/>
                    <a:p>
                      <a:pPr algn="ctr" indent="0" marL="0">
                        <a:buNone/>
                      </a:pPr>
                      <a:r>
                        <a:rPr lang="en-US" sz="1400" b="1" dirty="0">
                          <a:solidFill>
                            <a:srgbClr val="0B1F3A"/>
                          </a:solidFill>
                        </a:rPr>
                        <a:t>3</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rPr>
                        <a:t>Delete client</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rPr>
                        <a:t>Client removed from the UI and the database</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PASS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2E9E6B"/>
                    </a:solidFill>
                  </a:tcPr>
                </a:tc>
              </a:tr>
              <a:tr h="777240">
                <a:tc>
                  <a:txBody>
                    <a:bodyPr/>
                    <a:lstStyle/>
                    <a:p>
                      <a:pPr algn="ctr" indent="0" marL="0">
                        <a:buNone/>
                      </a:pPr>
                      <a:r>
                        <a:rPr lang="en-US" sz="1400" b="1" dirty="0">
                          <a:solidFill>
                            <a:srgbClr val="0B1F3A"/>
                          </a:solidFill>
                        </a:rPr>
                        <a:t>4</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rPr>
                        <a:t>Database verification</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400" dirty="0">
                          <a:solidFill>
                            <a:srgbClr val="0B1F3A"/>
                          </a:solidFill>
                        </a:rPr>
                        <a:t>SQL SELECT reflects the UI changes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PASS</a:t>
                      </a:r>
                      <a:endParaRPr lang="en-US" sz="1400" dirty="0"/>
                    </a:p>
                  </a:txBody>
                  <a:tcPr marL="91440" marR="91440" marT="45720" marB="45720" anchor="ctr">
                    <a:lnL w="9525" cap="flat" cmpd="sng" algn="ctr">
                      <a:solidFill>
                        <a:srgbClr val="DCE4EE"/>
                      </a:solidFill>
                      <a:prstDash val="solid"/>
                      <a:round/>
                      <a:headEnd type="none" w="med" len="med"/>
                      <a:tailEnd type="none" w="med" len="med"/>
                    </a:lnL>
                    <a:lnR w="9525" cap="flat" cmpd="sng" algn="ctr">
                      <a:solidFill>
                        <a:srgbClr val="DCE4EE"/>
                      </a:solidFill>
                      <a:prstDash val="solid"/>
                      <a:round/>
                      <a:headEnd type="none" w="med" len="med"/>
                      <a:tailEnd type="none" w="med" len="med"/>
                    </a:lnR>
                    <a:lnT w="9525" cap="flat" cmpd="sng" algn="ctr">
                      <a:solidFill>
                        <a:srgbClr val="DCE4EE"/>
                      </a:solidFill>
                      <a:prstDash val="solid"/>
                      <a:round/>
                      <a:headEnd type="none" w="med" len="med"/>
                      <a:tailEnd type="none" w="med" len="med"/>
                    </a:lnT>
                    <a:lnB w="9525" cap="flat" cmpd="sng" algn="ctr">
                      <a:solidFill>
                        <a:srgbClr val="DCE4EE"/>
                      </a:solidFill>
                      <a:prstDash val="solid"/>
                      <a:round/>
                      <a:headEnd type="none" w="med" len="med"/>
                      <a:tailEnd type="none" w="med" len="med"/>
                    </a:lnB>
                    <a:solidFill>
                      <a:srgbClr val="2E9E6B"/>
                    </a:solidFill>
                  </a:tcPr>
                </a:tc>
              </a:tr>
            </a:tbl>
          </a:graphicData>
        </a:graphic>
      </p:graphicFrame>
      <p:sp>
        <p:nvSpPr>
          <p:cNvPr id="4" name="Method note"/>
          <p:cNvSpPr/>
          <p:nvPr/>
        </p:nvSpPr>
        <p:spPr>
          <a:xfrm>
            <a:off x="548640" y="5166360"/>
            <a:ext cx="6400800" cy="1005840"/>
          </a:xfrm>
          <a:prstGeom prst="roundRect">
            <a:avLst>
              <a:gd name="adj" fmla="val 10909"/>
            </a:avLst>
          </a:prstGeom>
          <a:solidFill>
            <a:schemeClr val="bg1"/>
          </a:solidFill>
          <a:ln w="9525">
            <a:solidFill>
              <a:srgbClr val="DCE4EE"/>
            </a:solidFill>
            <a:prstDash val="solid"/>
          </a:ln>
          <a:effectLst>
            <a:outerShdw sx="100000" sy="100000" kx="0" ky="0" algn="bl" rotWithShape="0" blurRad="101600" dist="25400" dir="5400000">
              <a:srgbClr val="0B1F3A">
                <a:alpha val="12000"/>
              </a:srgbClr>
            </a:outerShdw>
          </a:effectLst>
        </p:spPr>
      </p:sp>
      <p:sp>
        <p:nvSpPr>
          <p:cNvPr id="5" name="Icon circle"/>
          <p:cNvSpPr/>
          <p:nvPr/>
        </p:nvSpPr>
        <p:spPr>
          <a:xfrm>
            <a:off x="777240" y="5413248"/>
            <a:ext cx="502920" cy="502920"/>
          </a:xfrm>
          <a:prstGeom prst="ellipse">
            <a:avLst/>
          </a:prstGeom>
          <a:solidFill>
            <a:schemeClr val="accent3"/>
          </a:solidFill>
          <a:ln w="12700">
            <a:solidFill>
              <a:schemeClr val="accent3"/>
            </a:solidFill>
            <a:prstDash val="solid"/>
          </a:ln>
        </p:spPr>
      </p:sp>
      <p:pic>
        <p:nvPicPr>
          <p:cNvPr id="6" name="Image 0" descr="Check icon">    </p:cNvPr>
          <p:cNvPicPr>
            <a:picLocks noChangeAspect="1"/>
          </p:cNvPicPr>
          <p:nvPr/>
        </p:nvPicPr>
        <p:blipFill>
          <a:blip r:embed="rId1"/>
          <a:stretch>
            <a:fillRect/>
          </a:stretch>
        </p:blipFill>
        <p:spPr>
          <a:xfrm>
            <a:off x="907999" y="5544007"/>
            <a:ext cx="241402" cy="241402"/>
          </a:xfrm>
          <a:prstGeom prst="rect">
            <a:avLst/>
          </a:prstGeom>
        </p:spPr>
      </p:pic>
      <p:sp>
        <p:nvSpPr>
          <p:cNvPr id="7" name="Text 3"/>
          <p:cNvSpPr txBox="1"/>
          <p:nvPr/>
        </p:nvSpPr>
        <p:spPr>
          <a:xfrm>
            <a:off x="1463040" y="5166360"/>
            <a:ext cx="5303520" cy="1005840"/>
          </a:xfrm>
          <a:prstGeom prst="rect">
            <a:avLst/>
          </a:prstGeom>
          <a:noFill/>
          <a:ln/>
        </p:spPr>
        <p:txBody>
          <a:bodyPr wrap="square" lIns="0" tIns="0" rIns="0" bIns="0" rtlCol="0" anchor="ctr"/>
          <a:lstStyle/>
          <a:p>
            <a:pPr indent="0" marL="0">
              <a:buNone/>
            </a:pPr>
            <a:r>
              <a:rPr lang="en-US" sz="1400" dirty="0">
                <a:solidFill>
                  <a:schemeClr val="tx1"/>
                </a:solidFill>
              </a:rPr>
              <a:t>Tested by performing actual INSERT and DELETE operations through the UI and verifying the changes with MySQL SELECT queries.</a:t>
            </a:r>
            <a:endParaRPr lang="en-US" sz="1400" dirty="0"/>
          </a:p>
        </p:txBody>
      </p:sp>
      <p:pic>
        <p:nvPicPr>
          <p:cNvPr id="8" name="Image 1" descr="MySQL output of SELECT * FROM client before insert, after insert and after delete">    </p:cNvPr>
          <p:cNvPicPr>
            <a:picLocks noChangeAspect="1"/>
          </p:cNvPicPr>
          <p:nvPr/>
        </p:nvPicPr>
        <p:blipFill>
          <a:blip r:embed="rId2"/>
          <a:stretch>
            <a:fillRect/>
          </a:stretch>
        </p:blipFill>
        <p:spPr>
          <a:xfrm>
            <a:off x="7251192" y="1371600"/>
            <a:ext cx="4389120" cy="4278818"/>
          </a:xfrm>
          <a:prstGeom prst="rect">
            <a:avLst/>
          </a:prstGeom>
        </p:spPr>
      </p:pic>
      <p:sp>
        <p:nvSpPr>
          <p:cNvPr id="9" name="Text 4"/>
          <p:cNvSpPr txBox="1"/>
          <p:nvPr/>
        </p:nvSpPr>
        <p:spPr>
          <a:xfrm>
            <a:off x="7251192" y="5741858"/>
            <a:ext cx="4389120" cy="502920"/>
          </a:xfrm>
          <a:prstGeom prst="rect">
            <a:avLst/>
          </a:prstGeom>
          <a:noFill/>
          <a:ln/>
        </p:spPr>
        <p:txBody>
          <a:bodyPr wrap="square" lIns="0" tIns="0" rIns="0" bIns="0" rtlCol="0" anchor="t"/>
          <a:lstStyle/>
          <a:p>
            <a:pPr indent="0" marL="0">
              <a:buNone/>
            </a:pPr>
            <a:r>
              <a:rPr lang="en-US" sz="1200" dirty="0">
                <a:solidFill>
                  <a:srgbClr val="5B6B80"/>
                </a:solidFill>
              </a:rPr>
              <a:t>SELECT * FROM client; shows 4 rows, then 5 rows after INSERT (ID 1005), then 4 rows after DELETE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Conclusion panel"/>
          <p:cNvSpPr/>
          <p:nvPr/>
        </p:nvSpPr>
        <p:spPr>
          <a:xfrm>
            <a:off x="548640" y="1371600"/>
            <a:ext cx="11091672" cy="4846320"/>
          </a:xfrm>
          <a:prstGeom prst="roundRect">
            <a:avLst>
              <a:gd name="adj" fmla="val 2264"/>
            </a:avLst>
          </a:prstGeom>
          <a:solidFill>
            <a:schemeClr val="tx2"/>
          </a:solidFill>
          <a:ln w="12700">
            <a:solidFill>
              <a:schemeClr val="tx2"/>
            </a:solidFill>
            <a:prstDash val="solid"/>
          </a:ln>
        </p:spPr>
      </p:sp>
      <p:sp>
        <p:nvSpPr>
          <p:cNvPr id="4" name="Icon circle"/>
          <p:cNvSpPr/>
          <p:nvPr/>
        </p:nvSpPr>
        <p:spPr>
          <a:xfrm>
            <a:off x="914400" y="1783080"/>
            <a:ext cx="457200" cy="457200"/>
          </a:xfrm>
          <a:prstGeom prst="ellipse">
            <a:avLst/>
          </a:prstGeom>
          <a:solidFill>
            <a:schemeClr val="accent3"/>
          </a:solidFill>
          <a:ln w="12700">
            <a:solidFill>
              <a:schemeClr val="accent3"/>
            </a:solidFill>
            <a:prstDash val="solid"/>
          </a:ln>
        </p:spPr>
      </p:sp>
      <p:pic>
        <p:nvPicPr>
          <p:cNvPr id="5" name="Image 0" descr="Check icon">    </p:cNvPr>
          <p:cNvPicPr>
            <a:picLocks noChangeAspect="1"/>
          </p:cNvPicPr>
          <p:nvPr/>
        </p:nvPicPr>
        <p:blipFill>
          <a:blip r:embed="rId1"/>
          <a:stretch>
            <a:fillRect/>
          </a:stretch>
        </p:blipFill>
        <p:spPr>
          <a:xfrm>
            <a:off x="1033272" y="1901952"/>
            <a:ext cx="219456" cy="219456"/>
          </a:xfrm>
          <a:prstGeom prst="rect">
            <a:avLst/>
          </a:prstGeom>
        </p:spPr>
      </p:pic>
      <p:sp>
        <p:nvSpPr>
          <p:cNvPr id="6" name="Text 3"/>
          <p:cNvSpPr txBox="1"/>
          <p:nvPr/>
        </p:nvSpPr>
        <p:spPr>
          <a:xfrm>
            <a:off x="1645920" y="1737360"/>
            <a:ext cx="9509760" cy="548640"/>
          </a:xfrm>
          <a:prstGeom prst="rect">
            <a:avLst/>
          </a:prstGeom>
          <a:noFill/>
          <a:ln/>
        </p:spPr>
        <p:txBody>
          <a:bodyPr wrap="square" lIns="0" tIns="0" rIns="0" bIns="0" rtlCol="0" anchor="ctr"/>
          <a:lstStyle/>
          <a:p>
            <a:pPr indent="0" marL="0">
              <a:buNone/>
            </a:pPr>
            <a:r>
              <a:rPr lang="en-US" sz="1900" dirty="0">
                <a:solidFill>
                  <a:schemeClr val="bg1"/>
                </a:solidFill>
              </a:rPr>
              <a:t>A working DBMS prototype has been successfully implemented.</a:t>
            </a:r>
            <a:endParaRPr lang="en-US" sz="1900" dirty="0"/>
          </a:p>
        </p:txBody>
      </p:sp>
      <p:sp>
        <p:nvSpPr>
          <p:cNvPr id="7" name="Icon circle"/>
          <p:cNvSpPr/>
          <p:nvPr/>
        </p:nvSpPr>
        <p:spPr>
          <a:xfrm>
            <a:off x="914400" y="2651760"/>
            <a:ext cx="457200" cy="457200"/>
          </a:xfrm>
          <a:prstGeom prst="ellipse">
            <a:avLst/>
          </a:prstGeom>
          <a:solidFill>
            <a:schemeClr val="accent3"/>
          </a:solidFill>
          <a:ln w="12700">
            <a:solidFill>
              <a:schemeClr val="accent3"/>
            </a:solidFill>
            <a:prstDash val="solid"/>
          </a:ln>
        </p:spPr>
      </p:sp>
      <p:pic>
        <p:nvPicPr>
          <p:cNvPr id="8" name="Image 1" descr="Check icon">    </p:cNvPr>
          <p:cNvPicPr>
            <a:picLocks noChangeAspect="1"/>
          </p:cNvPicPr>
          <p:nvPr/>
        </p:nvPicPr>
        <p:blipFill>
          <a:blip r:embed="rId2"/>
          <a:stretch>
            <a:fillRect/>
          </a:stretch>
        </p:blipFill>
        <p:spPr>
          <a:xfrm>
            <a:off x="1033272" y="2770632"/>
            <a:ext cx="219456" cy="219456"/>
          </a:xfrm>
          <a:prstGeom prst="rect">
            <a:avLst/>
          </a:prstGeom>
        </p:spPr>
      </p:pic>
      <p:sp>
        <p:nvSpPr>
          <p:cNvPr id="9" name="Text 5"/>
          <p:cNvSpPr txBox="1"/>
          <p:nvPr/>
        </p:nvSpPr>
        <p:spPr>
          <a:xfrm>
            <a:off x="1645920" y="2606040"/>
            <a:ext cx="9509760" cy="548640"/>
          </a:xfrm>
          <a:prstGeom prst="rect">
            <a:avLst/>
          </a:prstGeom>
          <a:noFill/>
          <a:ln/>
        </p:spPr>
        <p:txBody>
          <a:bodyPr wrap="square" lIns="0" tIns="0" rIns="0" bIns="0" rtlCol="0" anchor="ctr"/>
          <a:lstStyle/>
          <a:p>
            <a:pPr indent="0" marL="0">
              <a:buNone/>
            </a:pPr>
            <a:r>
              <a:rPr lang="en-US" sz="1900" dirty="0">
                <a:solidFill>
                  <a:schemeClr val="bg1"/>
                </a:solidFill>
              </a:rPr>
              <a:t>The MySQL database is connected to a Flask-based web interface.</a:t>
            </a:r>
            <a:endParaRPr lang="en-US" sz="1900" dirty="0"/>
          </a:p>
        </p:txBody>
      </p:sp>
      <p:sp>
        <p:nvSpPr>
          <p:cNvPr id="10" name="Icon circle"/>
          <p:cNvSpPr/>
          <p:nvPr/>
        </p:nvSpPr>
        <p:spPr>
          <a:xfrm>
            <a:off x="914400" y="3520440"/>
            <a:ext cx="457200" cy="457200"/>
          </a:xfrm>
          <a:prstGeom prst="ellipse">
            <a:avLst/>
          </a:prstGeom>
          <a:solidFill>
            <a:schemeClr val="accent3"/>
          </a:solidFill>
          <a:ln w="12700">
            <a:solidFill>
              <a:schemeClr val="accent3"/>
            </a:solidFill>
            <a:prstDash val="solid"/>
          </a:ln>
        </p:spPr>
      </p:sp>
      <p:pic>
        <p:nvPicPr>
          <p:cNvPr id="11" name="Image 2" descr="Check icon">    </p:cNvPr>
          <p:cNvPicPr>
            <a:picLocks noChangeAspect="1"/>
          </p:cNvPicPr>
          <p:nvPr/>
        </p:nvPicPr>
        <p:blipFill>
          <a:blip r:embed="rId3"/>
          <a:stretch>
            <a:fillRect/>
          </a:stretch>
        </p:blipFill>
        <p:spPr>
          <a:xfrm>
            <a:off x="1033272" y="3639312"/>
            <a:ext cx="219456" cy="219456"/>
          </a:xfrm>
          <a:prstGeom prst="rect">
            <a:avLst/>
          </a:prstGeom>
        </p:spPr>
      </p:pic>
      <p:sp>
        <p:nvSpPr>
          <p:cNvPr id="12" name="Text 7"/>
          <p:cNvSpPr txBox="1"/>
          <p:nvPr/>
        </p:nvSpPr>
        <p:spPr>
          <a:xfrm>
            <a:off x="1645920" y="3474720"/>
            <a:ext cx="9509760" cy="548640"/>
          </a:xfrm>
          <a:prstGeom prst="rect">
            <a:avLst/>
          </a:prstGeom>
          <a:noFill/>
          <a:ln/>
        </p:spPr>
        <p:txBody>
          <a:bodyPr wrap="square" lIns="0" tIns="0" rIns="0" bIns="0" rtlCol="0" anchor="ctr"/>
          <a:lstStyle/>
          <a:p>
            <a:pPr indent="0" marL="0">
              <a:buNone/>
            </a:pPr>
            <a:r>
              <a:rPr lang="en-US" sz="1900" dirty="0">
                <a:solidFill>
                  <a:schemeClr val="bg1"/>
                </a:solidFill>
              </a:rPr>
              <a:t>Client records can be viewed, inserted and deleted through the UI.</a:t>
            </a:r>
            <a:endParaRPr lang="en-US" sz="1900" dirty="0"/>
          </a:p>
        </p:txBody>
      </p:sp>
      <p:sp>
        <p:nvSpPr>
          <p:cNvPr id="13" name="Icon circle"/>
          <p:cNvSpPr/>
          <p:nvPr/>
        </p:nvSpPr>
        <p:spPr>
          <a:xfrm>
            <a:off x="914400" y="4389120"/>
            <a:ext cx="457200" cy="457200"/>
          </a:xfrm>
          <a:prstGeom prst="ellipse">
            <a:avLst/>
          </a:prstGeom>
          <a:solidFill>
            <a:schemeClr val="accent3"/>
          </a:solidFill>
          <a:ln w="12700">
            <a:solidFill>
              <a:schemeClr val="accent3"/>
            </a:solidFill>
            <a:prstDash val="solid"/>
          </a:ln>
        </p:spPr>
      </p:sp>
      <p:pic>
        <p:nvPicPr>
          <p:cNvPr id="14" name="Image 3" descr="Check icon">    </p:cNvPr>
          <p:cNvPicPr>
            <a:picLocks noChangeAspect="1"/>
          </p:cNvPicPr>
          <p:nvPr/>
        </p:nvPicPr>
        <p:blipFill>
          <a:blip r:embed="rId4"/>
          <a:stretch>
            <a:fillRect/>
          </a:stretch>
        </p:blipFill>
        <p:spPr>
          <a:xfrm>
            <a:off x="1033272" y="4507992"/>
            <a:ext cx="219456" cy="219456"/>
          </a:xfrm>
          <a:prstGeom prst="rect">
            <a:avLst/>
          </a:prstGeom>
        </p:spPr>
      </p:pic>
      <p:sp>
        <p:nvSpPr>
          <p:cNvPr id="15" name="Text 9"/>
          <p:cNvSpPr txBox="1"/>
          <p:nvPr/>
        </p:nvSpPr>
        <p:spPr>
          <a:xfrm>
            <a:off x="1645920" y="4343400"/>
            <a:ext cx="9509760" cy="548640"/>
          </a:xfrm>
          <a:prstGeom prst="rect">
            <a:avLst/>
          </a:prstGeom>
          <a:noFill/>
          <a:ln/>
        </p:spPr>
        <p:txBody>
          <a:bodyPr wrap="square" lIns="0" tIns="0" rIns="0" bIns="0" rtlCol="0" anchor="ctr"/>
          <a:lstStyle/>
          <a:p>
            <a:pPr indent="0" marL="0">
              <a:buNone/>
            </a:pPr>
            <a:r>
              <a:rPr lang="en-US" sz="1900" dirty="0">
                <a:solidFill>
                  <a:schemeClr val="bg1"/>
                </a:solidFill>
              </a:rPr>
              <a:t>Database changes are reflected in real time after transactions are committed.</a:t>
            </a:r>
            <a:endParaRPr lang="en-US" sz="1900" dirty="0"/>
          </a:p>
        </p:txBody>
      </p:sp>
      <p:sp>
        <p:nvSpPr>
          <p:cNvPr id="16" name="Icon circle"/>
          <p:cNvSpPr/>
          <p:nvPr/>
        </p:nvSpPr>
        <p:spPr>
          <a:xfrm>
            <a:off x="914400" y="5257800"/>
            <a:ext cx="457200" cy="457200"/>
          </a:xfrm>
          <a:prstGeom prst="ellipse">
            <a:avLst/>
          </a:prstGeom>
          <a:solidFill>
            <a:schemeClr val="accent3"/>
          </a:solidFill>
          <a:ln w="12700">
            <a:solidFill>
              <a:schemeClr val="accent3"/>
            </a:solidFill>
            <a:prstDash val="solid"/>
          </a:ln>
        </p:spPr>
      </p:sp>
      <p:pic>
        <p:nvPicPr>
          <p:cNvPr id="17" name="Image 4" descr="Check icon">    </p:cNvPr>
          <p:cNvPicPr>
            <a:picLocks noChangeAspect="1"/>
          </p:cNvPicPr>
          <p:nvPr/>
        </p:nvPicPr>
        <p:blipFill>
          <a:blip r:embed="rId5"/>
          <a:stretch>
            <a:fillRect/>
          </a:stretch>
        </p:blipFill>
        <p:spPr>
          <a:xfrm>
            <a:off x="1033272" y="5376672"/>
            <a:ext cx="219456" cy="219456"/>
          </a:xfrm>
          <a:prstGeom prst="rect">
            <a:avLst/>
          </a:prstGeom>
        </p:spPr>
      </p:pic>
      <p:sp>
        <p:nvSpPr>
          <p:cNvPr id="18" name="Text 11"/>
          <p:cNvSpPr txBox="1"/>
          <p:nvPr/>
        </p:nvSpPr>
        <p:spPr>
          <a:xfrm>
            <a:off x="1645920" y="5212080"/>
            <a:ext cx="9509760" cy="548640"/>
          </a:xfrm>
          <a:prstGeom prst="rect">
            <a:avLst/>
          </a:prstGeom>
          <a:noFill/>
          <a:ln/>
        </p:spPr>
        <p:txBody>
          <a:bodyPr wrap="square" lIns="0" tIns="0" rIns="0" bIns="0" rtlCol="0" anchor="ctr"/>
          <a:lstStyle/>
          <a:p>
            <a:pPr indent="0" marL="0">
              <a:buNone/>
            </a:pPr>
            <a:r>
              <a:rPr lang="en-US" sz="1900" dirty="0">
                <a:solidFill>
                  <a:schemeClr val="bg1"/>
                </a:solidFill>
              </a:rPr>
              <a:t>The prototype demonstrates successful integration between frontend, backend and database.</a:t>
            </a:r>
            <a:endParaRPr lang="en-US" sz="19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4C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icrofinance DBMS">
  <a:themeElements>
    <a:clrScheme name="Microfinance DBMS">
      <a:dk1>
        <a:srgbClr val="0B1F3A"/>
      </a:dk1>
      <a:lt1>
        <a:srgbClr val="FFFFFF"/>
      </a:lt1>
      <a:dk2>
        <a:srgbClr val="14395F"/>
      </a:dk2>
      <a:lt2>
        <a:srgbClr val="F4F7FB"/>
      </a:lt2>
      <a:accent1>
        <a:srgbClr val="0E7C86"/>
      </a:accent1>
      <a:accent2>
        <a:srgbClr val="F2A900"/>
      </a:accent2>
      <a:accent3>
        <a:srgbClr val="2E9E6B"/>
      </a:accent3>
      <a:accent4>
        <a:srgbClr val="3B6EA8"/>
      </a:accent4>
      <a:accent5>
        <a:srgbClr val="C8553D"/>
      </a:accent5>
      <a:accent6>
        <a:srgbClr val="8AA4C2"/>
      </a:accent6>
      <a:hlink>
        <a:srgbClr val="0E7C86"/>
      </a:hlink>
      <a:folHlink>
        <a:srgbClr val="5B7DB1"/>
      </a:folHlink>
    </a:clrScheme>
    <a:fontScheme name="Microfinance DB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III - Microfinance Loan and Repayment Management System</dc:title>
  <dc:subject>PptxGenJS Presentation</dc:subject>
  <dc:creator>PptxGenJS</dc:creator>
  <cp:lastModifiedBy>PptxGenJS</cp:lastModifiedBy>
  <cp:revision>1</cp:revision>
  <dcterms:created xsi:type="dcterms:W3CDTF">2026-10-06T20:26:27Z</dcterms:created>
  <dcterms:modified xsi:type="dcterms:W3CDTF">2026-10-06T20:26:27Z</dcterms:modified>
</cp:coreProperties>
</file>